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3"/>
  </p:notesMasterIdLst>
  <p:sldIdLst>
    <p:sldId id="256" r:id="rId5"/>
    <p:sldId id="257" r:id="rId6"/>
    <p:sldId id="258" r:id="rId7"/>
    <p:sldId id="259" r:id="rId8"/>
    <p:sldId id="260" r:id="rId9"/>
    <p:sldId id="261" r:id="rId10"/>
    <p:sldId id="263" r:id="rId11"/>
    <p:sldId id="262"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AECCA26-A03A-498F-A3B9-40026E084F7B}" v="158" dt="2026-03-27T16:48:22.86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2549" autoAdjust="0"/>
  </p:normalViewPr>
  <p:slideViewPr>
    <p:cSldViewPr snapToGrid="0" snapToObjects="1">
      <p:cViewPr varScale="1">
        <p:scale>
          <a:sx n="68" d="100"/>
          <a:sy n="68" d="100"/>
        </p:scale>
        <p:origin x="1234" y="2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19"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tavros Tsagkarakis" userId="339f2eeb-14e9-4e56-a59a-cf73983105cc" providerId="ADAL" clId="{C1230001-BA2B-4697-A12E-F94F3EC6051A}"/>
    <pc:docChg chg="custSel addSld modSld">
      <pc:chgData name="Stavros Tsagkarakis" userId="339f2eeb-14e9-4e56-a59a-cf73983105cc" providerId="ADAL" clId="{C1230001-BA2B-4697-A12E-F94F3EC6051A}" dt="2026-03-27T16:48:22.868" v="156" actId="5793"/>
      <pc:docMkLst>
        <pc:docMk/>
      </pc:docMkLst>
      <pc:sldChg chg="modSp mod">
        <pc:chgData name="Stavros Tsagkarakis" userId="339f2eeb-14e9-4e56-a59a-cf73983105cc" providerId="ADAL" clId="{C1230001-BA2B-4697-A12E-F94F3EC6051A}" dt="2026-03-27T16:48:22.868" v="156" actId="5793"/>
        <pc:sldMkLst>
          <pc:docMk/>
          <pc:sldMk cId="0" sldId="262"/>
        </pc:sldMkLst>
        <pc:spChg chg="mod">
          <ac:chgData name="Stavros Tsagkarakis" userId="339f2eeb-14e9-4e56-a59a-cf73983105cc" providerId="ADAL" clId="{C1230001-BA2B-4697-A12E-F94F3EC6051A}" dt="2026-03-27T16:48:22.868" v="156" actId="5793"/>
          <ac:spMkLst>
            <pc:docMk/>
            <pc:sldMk cId="0" sldId="262"/>
            <ac:spMk id="6" creationId="{00000000-0000-0000-0000-000000000000}"/>
          </ac:spMkLst>
        </pc:spChg>
      </pc:sldChg>
      <pc:sldChg chg="addSp delSp modSp add mod modNotesTx">
        <pc:chgData name="Stavros Tsagkarakis" userId="339f2eeb-14e9-4e56-a59a-cf73983105cc" providerId="ADAL" clId="{C1230001-BA2B-4697-A12E-F94F3EC6051A}" dt="2026-03-27T16:47:58.064" v="142" actId="14100"/>
        <pc:sldMkLst>
          <pc:docMk/>
          <pc:sldMk cId="3698199045" sldId="263"/>
        </pc:sldMkLst>
        <pc:spChg chg="mod">
          <ac:chgData name="Stavros Tsagkarakis" userId="339f2eeb-14e9-4e56-a59a-cf73983105cc" providerId="ADAL" clId="{C1230001-BA2B-4697-A12E-F94F3EC6051A}" dt="2026-03-27T16:44:08.918" v="49" actId="6549"/>
          <ac:spMkLst>
            <pc:docMk/>
            <pc:sldMk cId="3698199045" sldId="263"/>
            <ac:spMk id="3" creationId="{0ED0396C-13CA-B619-49C5-B332FC829380}"/>
          </ac:spMkLst>
        </pc:spChg>
        <pc:spChg chg="add mod">
          <ac:chgData name="Stavros Tsagkarakis" userId="339f2eeb-14e9-4e56-a59a-cf73983105cc" providerId="ADAL" clId="{C1230001-BA2B-4697-A12E-F94F3EC6051A}" dt="2026-03-27T16:47:38.995" v="139" actId="20577"/>
          <ac:spMkLst>
            <pc:docMk/>
            <pc:sldMk cId="3698199045" sldId="263"/>
            <ac:spMk id="5" creationId="{D54C0501-C1E5-29C1-09F0-51F052DC8A5B}"/>
          </ac:spMkLst>
        </pc:spChg>
        <pc:spChg chg="mod">
          <ac:chgData name="Stavros Tsagkarakis" userId="339f2eeb-14e9-4e56-a59a-cf73983105cc" providerId="ADAL" clId="{C1230001-BA2B-4697-A12E-F94F3EC6051A}" dt="2026-03-27T16:44:13.365" v="50" actId="1076"/>
          <ac:spMkLst>
            <pc:docMk/>
            <pc:sldMk cId="3698199045" sldId="263"/>
            <ac:spMk id="6" creationId="{179D68C9-CD58-C826-17EC-C09B21E28097}"/>
          </ac:spMkLst>
        </pc:spChg>
        <pc:spChg chg="del">
          <ac:chgData name="Stavros Tsagkarakis" userId="339f2eeb-14e9-4e56-a59a-cf73983105cc" providerId="ADAL" clId="{C1230001-BA2B-4697-A12E-F94F3EC6051A}" dt="2026-03-27T16:44:31.774" v="53" actId="478"/>
          <ac:spMkLst>
            <pc:docMk/>
            <pc:sldMk cId="3698199045" sldId="263"/>
            <ac:spMk id="7" creationId="{A5A2AECE-5812-8E3C-20AC-62B8D8E54F4E}"/>
          </ac:spMkLst>
        </pc:spChg>
        <pc:spChg chg="del mod">
          <ac:chgData name="Stavros Tsagkarakis" userId="339f2eeb-14e9-4e56-a59a-cf73983105cc" providerId="ADAL" clId="{C1230001-BA2B-4697-A12E-F94F3EC6051A}" dt="2026-03-27T16:44:47.208" v="59" actId="478"/>
          <ac:spMkLst>
            <pc:docMk/>
            <pc:sldMk cId="3698199045" sldId="263"/>
            <ac:spMk id="8" creationId="{18038CFB-B24E-2928-4735-5D7D222A663B}"/>
          </ac:spMkLst>
        </pc:spChg>
        <pc:spChg chg="mod">
          <ac:chgData name="Stavros Tsagkarakis" userId="339f2eeb-14e9-4e56-a59a-cf73983105cc" providerId="ADAL" clId="{C1230001-BA2B-4697-A12E-F94F3EC6051A}" dt="2026-03-27T16:44:27.520" v="51" actId="6549"/>
          <ac:spMkLst>
            <pc:docMk/>
            <pc:sldMk cId="3698199045" sldId="263"/>
            <ac:spMk id="9" creationId="{EAE697DF-C7BB-D8D2-FCC8-3151AB203767}"/>
          </ac:spMkLst>
        </pc:spChg>
        <pc:spChg chg="del">
          <ac:chgData name="Stavros Tsagkarakis" userId="339f2eeb-14e9-4e56-a59a-cf73983105cc" providerId="ADAL" clId="{C1230001-BA2B-4697-A12E-F94F3EC6051A}" dt="2026-03-27T16:44:33.800" v="54" actId="478"/>
          <ac:spMkLst>
            <pc:docMk/>
            <pc:sldMk cId="3698199045" sldId="263"/>
            <ac:spMk id="10" creationId="{187002B7-8010-DECE-AD34-0C79A6089EA4}"/>
          </ac:spMkLst>
        </pc:spChg>
        <pc:spChg chg="del mod">
          <ac:chgData name="Stavros Tsagkarakis" userId="339f2eeb-14e9-4e56-a59a-cf73983105cc" providerId="ADAL" clId="{C1230001-BA2B-4697-A12E-F94F3EC6051A}" dt="2026-03-27T16:44:55.105" v="61" actId="478"/>
          <ac:spMkLst>
            <pc:docMk/>
            <pc:sldMk cId="3698199045" sldId="263"/>
            <ac:spMk id="11" creationId="{3766E3A8-C899-84C3-758E-2F7003BA6357}"/>
          </ac:spMkLst>
        </pc:spChg>
        <pc:spChg chg="del mod">
          <ac:chgData name="Stavros Tsagkarakis" userId="339f2eeb-14e9-4e56-a59a-cf73983105cc" providerId="ADAL" clId="{C1230001-BA2B-4697-A12E-F94F3EC6051A}" dt="2026-03-27T16:44:58.211" v="63" actId="478"/>
          <ac:spMkLst>
            <pc:docMk/>
            <pc:sldMk cId="3698199045" sldId="263"/>
            <ac:spMk id="12" creationId="{CD6A7C96-F8FD-8866-FC9D-1AB7CCEBD26B}"/>
          </ac:spMkLst>
        </pc:spChg>
        <pc:spChg chg="mod">
          <ac:chgData name="Stavros Tsagkarakis" userId="339f2eeb-14e9-4e56-a59a-cf73983105cc" providerId="ADAL" clId="{C1230001-BA2B-4697-A12E-F94F3EC6051A}" dt="2026-03-27T16:47:43.535" v="141"/>
          <ac:spMkLst>
            <pc:docMk/>
            <pc:sldMk cId="3698199045" sldId="263"/>
            <ac:spMk id="14" creationId="{6A861870-F593-2AEE-FBC0-BA358C7B09D8}"/>
          </ac:spMkLst>
        </pc:spChg>
        <pc:spChg chg="add mod ord">
          <ac:chgData name="Stavros Tsagkarakis" userId="339f2eeb-14e9-4e56-a59a-cf73983105cc" providerId="ADAL" clId="{C1230001-BA2B-4697-A12E-F94F3EC6051A}" dt="2026-03-27T16:47:58.064" v="142" actId="14100"/>
          <ac:spMkLst>
            <pc:docMk/>
            <pc:sldMk cId="3698199045" sldId="263"/>
            <ac:spMk id="16" creationId="{6E516932-BB40-1AC7-1B4F-DE94380CE467}"/>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487381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Thanks everyone for joining.
Today is the formal kick-off for the contract profitability reporting work. The aim is not to solve everything in one sitting. The aim is to get alignment on the profitability model, understand the data landscape, confirm the reporting hierarchy, and agree how we move through the build over the next few weeks.
[PAUSE]
We want to leave this session clear on what the report needs to show, what data feeds it, where the main gaps are, and who owns the key decisions.
Let us start with what success looks like.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thing to get right is the definition of success.
This session is not about reviewing every table and field in Dataverse or NetSuite. That comes later. Today is about the business logic. We need to agree what profitability means, how the hierarchy works, and which data sources feed which parts of the model. That is what unblocks the build.
[PAUSE]
If we leave this session with those three outcomes confirmed, Synetec can move straight into development. That is the bar we are aiming for.
Let us start with the profitability model itself.</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conversation of the session because every number in the report flows from the definitions we agree here.
We need to be precise. Revenue could mean invoiced, recognised, or contracted value, and each gives a different picture. Cost could be actual hours at blended rates, or it could include direct expenses. We need to agree which version of the truth the report will show.
[PAUSE]
The questions on screen are designed to surface the decisions we need to make. We do not need perfect answers today, but we need to know which definition to build against and where the grey areas are.
Let us move on to how the hierarchy works.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hierarchy is how users will navigate the report. They start at sector level to see the big picture, then drill into a specific asset, then into individual contracts within that asset.
We have assumed three levels based on the SOW and the initial discussion: sector, asset, contract. But we need to confirm this is correct and complete. Some organisations have intermediate levels, like fund or portfolio, that sit between sector and asset.
[PAUSE]
The edge cases matter. If a contract serves two sectors, or if there are group-level contracts that do not sit under a single asset, we need to decide how to handle them now rather than discover them halfway through the build.
Let us now look at where the data actually lives.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the real work starts. The reporting itself is not the hard part. The hard part is getting reliable data out of multiple systems and joining it together in a way that makes sense.
We know from the initial discussion that Dataverse holds contract and asset data, NetSuite holds finance data, and some information lives in spreadsheets. What we need to confirm is how we access each source and whether the data is clean enough to use.
[PAUSE]
The table on screen is our starting point. We need to fill in the gaps together. The most important thing is identifying the common keys, the fields that let us link a contract in Dataverse to its revenue in NetSuite.
Let us now talk about who uses the report and what they need to see.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have spent time on the model and the data. Now we need to make sure the report is designed for the people who will actually use it.
The audience determines everything: the level of detail, the default view, the filters, and the refresh frequency. A report designed for senior leadership looks very different from one designed for operational contract managers.
[PAUSE]
We also need to think about what this report replaces. If people are currently using Excel workbooks to track profitability, we need to understand what they like about that approach so the Power BI version is an upgrade, not a disruption.
Let us wrap up with the plan for what happens after today.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DE184A-194C-CBE5-340A-0F4CD870B2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1C2D7A-3B61-C6B9-99D0-88A588FBA5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D8CFB2-01CC-2794-230C-F89BE926CA4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3E550FF-2498-11A1-A56A-BCB51CD09707}"/>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1541475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working plan from today.
The pace is deliberately tight. The ten-day development window is realistic, but only if access and sample data arrive quickly. So the dependency here is not the build itself. The dependency is getting Synetec access to Microsoft Fabric and Power BI, and getting representative data extracts from each source system.
[PAUSE]
Synetec will document what we agreed today and circulate it within 48 hours. Once access is provisioned and sample data is shared, we move straight into the first sprint. We will schedule a playback session to walk through the initial report together.
Thank you, everyone. Let us get started.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sessions/bold-pensive-galileo/workshop-gen/slide-hero-bg.gif"/>
          <p:cNvPicPr>
            <a:picLocks noChangeAspect="1"/>
          </p:cNvPicPr>
          <p:nvPr/>
        </p:nvPicPr>
        <p:blipFill>
          <a:blip r:embed="rId3"/>
          <a:stretch>
            <a:fillRect/>
          </a:stretch>
        </p:blipFill>
        <p:spPr>
          <a:xfrm>
            <a:off x="0" y="0"/>
            <a:ext cx="12188952" cy="6858000"/>
          </a:xfrm>
          <a:prstGeom prst="rect">
            <a:avLst/>
          </a:prstGeom>
        </p:spPr>
      </p:pic>
      <p:pic>
        <p:nvPicPr>
          <p:cNvPr id="3" name="Image 1" descr="/sessions/bold-pensive-galileo/workshop-gen/slide-footer-rule.png"/>
          <p:cNvPicPr>
            <a:picLocks noChangeAspect="1"/>
          </p:cNvPicPr>
          <p:nvPr/>
        </p:nvPicPr>
        <p:blipFill>
          <a:blip r:embed="rId4"/>
          <a:stretch>
            <a:fillRect/>
          </a:stretch>
        </p:blipFill>
        <p:spPr>
          <a:xfrm>
            <a:off x="731520" y="6574536"/>
            <a:ext cx="10515600" cy="27432"/>
          </a:xfrm>
          <a:prstGeom prst="rect">
            <a:avLst/>
          </a:prstGeom>
        </p:spPr>
      </p:pic>
      <p:pic>
        <p:nvPicPr>
          <p:cNvPr id="4" name="Image 2" descr="/sessions/bold-pensive-galileo/workshop-gen/slide-hero-smark.png"/>
          <p:cNvPicPr>
            <a:picLocks noChangeAspect="1"/>
          </p:cNvPicPr>
          <p:nvPr/>
        </p:nvPicPr>
        <p:blipFill>
          <a:blip r:embed="rId5"/>
          <a:stretch>
            <a:fillRect/>
          </a:stretch>
        </p:blipFill>
        <p:spPr>
          <a:xfrm>
            <a:off x="11521440" y="6245352"/>
            <a:ext cx="667512" cy="612648"/>
          </a:xfrm>
          <a:prstGeom prst="rect">
            <a:avLst/>
          </a:prstGeom>
        </p:spPr>
      </p:pic>
      <p:sp>
        <p:nvSpPr>
          <p:cNvPr id="5" name="Text 0"/>
          <p:cNvSpPr/>
          <p:nvPr/>
        </p:nvSpPr>
        <p:spPr>
          <a:xfrm>
            <a:off x="457200" y="731520"/>
            <a:ext cx="9144000" cy="1097280"/>
          </a:xfrm>
          <a:prstGeom prst="rect">
            <a:avLst/>
          </a:prstGeom>
          <a:noFill/>
          <a:ln/>
        </p:spPr>
        <p:txBody>
          <a:bodyPr wrap="square" lIns="0" tIns="0" rIns="0" bIns="0" rtlCol="0" anchor="ctr"/>
          <a:lstStyle/>
          <a:p>
            <a:pPr marL="0" indent="0">
              <a:buNone/>
            </a:pPr>
            <a:r>
              <a:rPr lang="en-US" sz="4400" b="1" dirty="0">
                <a:solidFill>
                  <a:srgbClr val="FFFFFF"/>
                </a:solidFill>
                <a:latin typeface="Poppins" pitchFamily="34" charset="0"/>
                <a:ea typeface="Poppins" pitchFamily="34" charset="-122"/>
                <a:cs typeface="Poppins" pitchFamily="34" charset="-120"/>
              </a:rPr>
              <a:t>Contract Profitability </a:t>
            </a:r>
            <a:r>
              <a:rPr lang="en-US" sz="4400" b="1" dirty="0">
                <a:solidFill>
                  <a:srgbClr val="FF6600"/>
                </a:solidFill>
                <a:latin typeface="Poppins" pitchFamily="34" charset="0"/>
                <a:ea typeface="Poppins" pitchFamily="34" charset="-122"/>
                <a:cs typeface="Poppins" pitchFamily="34" charset="-120"/>
              </a:rPr>
              <a:t>Reporting</a:t>
            </a:r>
            <a:endParaRPr lang="en-US" sz="4400" dirty="0"/>
          </a:p>
        </p:txBody>
      </p:sp>
      <p:sp>
        <p:nvSpPr>
          <p:cNvPr id="6" name="Text 1"/>
          <p:cNvSpPr/>
          <p:nvPr/>
        </p:nvSpPr>
        <p:spPr>
          <a:xfrm>
            <a:off x="457200" y="1828800"/>
            <a:ext cx="7315200" cy="548640"/>
          </a:xfrm>
          <a:prstGeom prst="rect">
            <a:avLst/>
          </a:prstGeom>
          <a:noFill/>
          <a:ln/>
        </p:spPr>
        <p:txBody>
          <a:bodyPr wrap="square" rtlCol="0" anchor="ctr"/>
          <a:lstStyle/>
          <a:p>
            <a:pPr marL="0" indent="0">
              <a:buNone/>
            </a:pPr>
            <a:r>
              <a:rPr lang="en-US" sz="2200" i="1" dirty="0">
                <a:solidFill>
                  <a:srgbClr val="CCCCCC"/>
                </a:solidFill>
                <a:latin typeface="Poppins" pitchFamily="34" charset="0"/>
                <a:ea typeface="Poppins" pitchFamily="34" charset="-122"/>
                <a:cs typeface="Poppins" pitchFamily="34" charset="-120"/>
              </a:rPr>
              <a:t>Equitix Kick-off Session</a:t>
            </a:r>
            <a:endParaRPr lang="en-US" sz="2200" dirty="0"/>
          </a:p>
        </p:txBody>
      </p:sp>
      <p:sp>
        <p:nvSpPr>
          <p:cNvPr id="7" name="Text 2"/>
          <p:cNvSpPr/>
          <p:nvPr/>
        </p:nvSpPr>
        <p:spPr>
          <a:xfrm>
            <a:off x="457200" y="2743200"/>
            <a:ext cx="7315200" cy="457200"/>
          </a:xfrm>
          <a:prstGeom prst="rect">
            <a:avLst/>
          </a:prstGeom>
          <a:noFill/>
          <a:ln/>
        </p:spPr>
        <p:txBody>
          <a:bodyPr wrap="square" rtlCol="0" anchor="ctr"/>
          <a:lstStyle/>
          <a:p>
            <a:pPr marL="0" indent="0">
              <a:buNone/>
            </a:pPr>
            <a:r>
              <a:rPr lang="en-US" sz="1600" b="1" dirty="0">
                <a:solidFill>
                  <a:srgbClr val="FF6600"/>
                </a:solidFill>
                <a:latin typeface="Poppins" pitchFamily="34" charset="0"/>
                <a:ea typeface="Poppins" pitchFamily="34" charset="-122"/>
                <a:cs typeface="Poppins" pitchFamily="34" charset="-120"/>
              </a:rPr>
              <a:t>Purpose of today</a:t>
            </a:r>
            <a:endParaRPr lang="en-US" sz="1600" dirty="0"/>
          </a:p>
        </p:txBody>
      </p:sp>
      <p:sp>
        <p:nvSpPr>
          <p:cNvPr id="8" name="Text 3"/>
          <p:cNvSpPr/>
          <p:nvPr/>
        </p:nvSpPr>
        <p:spPr>
          <a:xfrm>
            <a:off x="457200" y="3200400"/>
            <a:ext cx="8229600" cy="2011680"/>
          </a:xfrm>
          <a:prstGeom prst="rect">
            <a:avLst/>
          </a:prstGeom>
          <a:noFill/>
          <a:ln/>
        </p:spPr>
        <p:txBody>
          <a:bodyPr wrap="square" rtlCol="0" anchor="ctr"/>
          <a:lstStyle/>
          <a:p>
            <a:pPr marL="342900" indent="-342900">
              <a:buSzPct val="100000"/>
              <a:buChar char="•"/>
            </a:pPr>
            <a:r>
              <a:rPr lang="en-US" sz="1300" dirty="0">
                <a:solidFill>
                  <a:srgbClr val="FFFFFF"/>
                </a:solidFill>
                <a:latin typeface="Poppins" pitchFamily="34" charset="0"/>
                <a:ea typeface="Poppins" pitchFamily="34" charset="-122"/>
                <a:cs typeface="Poppins" pitchFamily="34" charset="-120"/>
              </a:rPr>
              <a:t>Confirm how contract profitability should be calculated and measured</a:t>
            </a:r>
            <a:endParaRPr lang="en-US" sz="1300" dirty="0"/>
          </a:p>
          <a:p>
            <a:pPr marL="342900" indent="-342900">
              <a:buSzPct val="100000"/>
              <a:buChar char="•"/>
            </a:pPr>
            <a:r>
              <a:rPr lang="en-US" sz="1300" dirty="0">
                <a:solidFill>
                  <a:srgbClr val="FFFFFF"/>
                </a:solidFill>
                <a:latin typeface="Poppins" pitchFamily="34" charset="0"/>
                <a:ea typeface="Poppins" pitchFamily="34" charset="-122"/>
                <a:cs typeface="Poppins" pitchFamily="34" charset="-120"/>
              </a:rPr>
              <a:t>Agree the sector, asset, and contract hierarchy for the report</a:t>
            </a:r>
            <a:endParaRPr lang="en-US" sz="1300" dirty="0"/>
          </a:p>
          <a:p>
            <a:pPr marL="342900" indent="-342900">
              <a:buSzPct val="100000"/>
              <a:buChar char="•"/>
            </a:pPr>
            <a:r>
              <a:rPr lang="en-US" sz="1300" dirty="0">
                <a:solidFill>
                  <a:srgbClr val="FFFFFF"/>
                </a:solidFill>
                <a:latin typeface="Poppins" pitchFamily="34" charset="0"/>
                <a:ea typeface="Poppins" pitchFamily="34" charset="-122"/>
                <a:cs typeface="Poppins" pitchFamily="34" charset="-120"/>
              </a:rPr>
              <a:t>Map data sources to the profitability model and identify gaps</a:t>
            </a:r>
            <a:endParaRPr lang="en-US" sz="1300" dirty="0"/>
          </a:p>
          <a:p>
            <a:pPr marL="342900" indent="-342900">
              <a:buSzPct val="100000"/>
              <a:buChar char="•"/>
            </a:pPr>
            <a:r>
              <a:rPr lang="en-US" sz="1300" dirty="0">
                <a:solidFill>
                  <a:srgbClr val="FFFFFF"/>
                </a:solidFill>
                <a:latin typeface="Poppins" pitchFamily="34" charset="0"/>
                <a:ea typeface="Poppins" pitchFamily="34" charset="-122"/>
                <a:cs typeface="Poppins" pitchFamily="34" charset="-120"/>
              </a:rPr>
              <a:t>Align on report audience, layout, and delivery plan</a:t>
            </a:r>
            <a:endParaRPr lang="en-US" sz="1300" dirty="0"/>
          </a:p>
        </p:txBody>
      </p:sp>
      <p:sp>
        <p:nvSpPr>
          <p:cNvPr id="9" name="Text 4"/>
          <p:cNvSpPr/>
          <p:nvPr/>
        </p:nvSpPr>
        <p:spPr>
          <a:xfrm>
            <a:off x="457200" y="5303520"/>
            <a:ext cx="4572000" cy="365760"/>
          </a:xfrm>
          <a:prstGeom prst="rect">
            <a:avLst/>
          </a:prstGeom>
          <a:noFill/>
          <a:ln/>
        </p:spPr>
        <p:txBody>
          <a:bodyPr wrap="square" rtlCol="0" anchor="ctr"/>
          <a:lstStyle/>
          <a:p>
            <a:pPr marL="0" indent="0">
              <a:buNone/>
            </a:pPr>
            <a:r>
              <a:rPr lang="en-US" sz="1400" dirty="0">
                <a:solidFill>
                  <a:srgbClr val="999999"/>
                </a:solidFill>
                <a:latin typeface="Poppins" pitchFamily="34" charset="0"/>
                <a:ea typeface="Poppins" pitchFamily="34" charset="-122"/>
                <a:cs typeface="Poppins" pitchFamily="34" charset="-120"/>
              </a:rPr>
              <a:t>March 2026</a:t>
            </a:r>
            <a:endParaRPr lang="en-US" sz="1400" dirty="0"/>
          </a:p>
        </p:txBody>
      </p:sp>
      <p:sp>
        <p:nvSpPr>
          <p:cNvPr id="10" name="Text 5"/>
          <p:cNvSpPr/>
          <p:nvPr/>
        </p:nvSpPr>
        <p:spPr>
          <a:xfrm>
            <a:off x="6400800" y="5303520"/>
            <a:ext cx="5029200" cy="365760"/>
          </a:xfrm>
          <a:prstGeom prst="rect">
            <a:avLst/>
          </a:prstGeom>
          <a:noFill/>
          <a:ln/>
        </p:spPr>
        <p:txBody>
          <a:bodyPr wrap="square" rtlCol="0" anchor="ctr"/>
          <a:lstStyle/>
          <a:p>
            <a:pPr marL="0" indent="0" algn="r">
              <a:buNone/>
            </a:pPr>
            <a:r>
              <a:rPr lang="en-US" sz="1400" dirty="0">
                <a:solidFill>
                  <a:srgbClr val="999999"/>
                </a:solidFill>
                <a:latin typeface="Poppins" pitchFamily="34" charset="0"/>
                <a:ea typeface="Poppins" pitchFamily="34" charset="-122"/>
                <a:cs typeface="Poppins" pitchFamily="34" charset="-120"/>
              </a:rPr>
              <a:t>Prepared by Synetec</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pic>
        <p:nvPicPr>
          <p:cNvPr id="2" name="Image 0" descr="/sessions/bold-pensive-galileo/workshop-gen/slide-corner-pattern.png"/>
          <p:cNvPicPr>
            <a:picLocks noChangeAspect="1"/>
          </p:cNvPicPr>
          <p:nvPr/>
        </p:nvPicPr>
        <p:blipFill>
          <a:blip r:embed="rId3"/>
          <a:stretch>
            <a:fillRect/>
          </a:stretch>
        </p:blipFill>
        <p:spPr>
          <a:xfrm>
            <a:off x="9921240" y="-237744"/>
            <a:ext cx="2267712" cy="2002536"/>
          </a:xfrm>
          <a:prstGeom prst="rect">
            <a:avLst/>
          </a:prstGeom>
        </p:spPr>
      </p:pic>
      <p:sp>
        <p:nvSpPr>
          <p:cNvPr id="3" name="Text 0"/>
          <p:cNvSpPr/>
          <p:nvPr/>
        </p:nvSpPr>
        <p:spPr>
          <a:xfrm>
            <a:off x="457200" y="274320"/>
            <a:ext cx="9144000" cy="731520"/>
          </a:xfrm>
          <a:prstGeom prst="rect">
            <a:avLst/>
          </a:prstGeom>
          <a:noFill/>
          <a:ln/>
        </p:spPr>
        <p:txBody>
          <a:bodyPr wrap="square" lIns="0" tIns="0" rIns="0" bIns="0" rtlCol="0" anchor="ctr"/>
          <a:lstStyle/>
          <a:p>
            <a:pPr marL="0" indent="0">
              <a:buNone/>
            </a:pPr>
            <a:r>
              <a:rPr lang="en-US" sz="3600" b="1" dirty="0">
                <a:solidFill>
                  <a:srgbClr val="5B6B7A"/>
                </a:solidFill>
                <a:latin typeface="Poppins" pitchFamily="34" charset="0"/>
                <a:ea typeface="Poppins" pitchFamily="34" charset="-122"/>
                <a:cs typeface="Poppins" pitchFamily="34" charset="-120"/>
              </a:rPr>
              <a:t>What success looks like</a:t>
            </a:r>
            <a:r>
              <a:rPr lang="en-US" sz="3600" b="1" dirty="0">
                <a:solidFill>
                  <a:srgbClr val="FF6600"/>
                </a:solidFill>
                <a:latin typeface="Poppins" pitchFamily="34" charset="0"/>
                <a:ea typeface="Poppins" pitchFamily="34" charset="-122"/>
                <a:cs typeface="Poppins" pitchFamily="34" charset="-120"/>
              </a:rPr>
              <a:t>.</a:t>
            </a:r>
            <a:endParaRPr lang="en-US" sz="3600" dirty="0"/>
          </a:p>
        </p:txBody>
      </p:sp>
      <p:pic>
        <p:nvPicPr>
          <p:cNvPr id="4" name="Image 1" descr="/sessions/bold-pensive-galileo/workshop-gen/slide-footer-rule.png"/>
          <p:cNvPicPr>
            <a:picLocks noChangeAspect="1"/>
          </p:cNvPicPr>
          <p:nvPr/>
        </p:nvPicPr>
        <p:blipFill>
          <a:blip r:embed="rId4"/>
          <a:stretch>
            <a:fillRect/>
          </a:stretch>
        </p:blipFill>
        <p:spPr>
          <a:xfrm>
            <a:off x="731520" y="6574536"/>
            <a:ext cx="10515600" cy="27432"/>
          </a:xfrm>
          <a:prstGeom prst="rect">
            <a:avLst/>
          </a:prstGeom>
        </p:spPr>
      </p:pic>
      <p:pic>
        <p:nvPicPr>
          <p:cNvPr id="5" name="Image 2" descr="/sessions/bold-pensive-galileo/workshop-gen/slide-smark.png"/>
          <p:cNvPicPr>
            <a:picLocks noChangeAspect="1"/>
          </p:cNvPicPr>
          <p:nvPr/>
        </p:nvPicPr>
        <p:blipFill>
          <a:blip r:embed="rId5"/>
          <a:stretch>
            <a:fillRect/>
          </a:stretch>
        </p:blipFill>
        <p:spPr>
          <a:xfrm>
            <a:off x="11622024" y="6291072"/>
            <a:ext cx="566928" cy="566928"/>
          </a:xfrm>
          <a:prstGeom prst="rect">
            <a:avLst/>
          </a:prstGeom>
        </p:spPr>
      </p:pic>
      <p:sp>
        <p:nvSpPr>
          <p:cNvPr id="6" name="Text 1"/>
          <p:cNvSpPr/>
          <p:nvPr/>
        </p:nvSpPr>
        <p:spPr>
          <a:xfrm>
            <a:off x="457200" y="1024128"/>
            <a:ext cx="9144000" cy="457200"/>
          </a:xfrm>
          <a:prstGeom prst="rect">
            <a:avLst/>
          </a:prstGeom>
          <a:noFill/>
          <a:ln/>
        </p:spPr>
        <p:txBody>
          <a:bodyPr wrap="square" rtlCol="0" anchor="ctr"/>
          <a:lstStyle/>
          <a:p>
            <a:pPr marL="0" indent="0">
              <a:buNone/>
            </a:pPr>
            <a:r>
              <a:rPr lang="en-US" sz="1400" i="1" dirty="0">
                <a:solidFill>
                  <a:srgbClr val="5B6B7A"/>
                </a:solidFill>
                <a:latin typeface="Poppins" pitchFamily="34" charset="0"/>
                <a:ea typeface="Poppins" pitchFamily="34" charset="-122"/>
                <a:cs typeface="Poppins" pitchFamily="34" charset="-120"/>
              </a:rPr>
              <a:t>What should this session achieve, and what is it not for?</a:t>
            </a:r>
            <a:endParaRPr lang="en-US" sz="1400" dirty="0"/>
          </a:p>
        </p:txBody>
      </p:sp>
      <p:sp>
        <p:nvSpPr>
          <p:cNvPr id="7" name="Shape 2"/>
          <p:cNvSpPr/>
          <p:nvPr/>
        </p:nvSpPr>
        <p:spPr>
          <a:xfrm>
            <a:off x="457200" y="1645920"/>
            <a:ext cx="5303520" cy="3657600"/>
          </a:xfrm>
          <a:prstGeom prst="roundRect">
            <a:avLst>
              <a:gd name="adj" fmla="val 2000"/>
            </a:avLst>
          </a:prstGeom>
          <a:solidFill>
            <a:srgbClr val="F7F9FB"/>
          </a:solidFill>
          <a:ln w="12700">
            <a:solidFill>
              <a:srgbClr val="D0D6DC"/>
            </a:solidFill>
            <a:prstDash val="solid"/>
          </a:ln>
        </p:spPr>
        <p:txBody>
          <a:bodyPr/>
          <a:lstStyle/>
          <a:p>
            <a:endParaRPr lang="en-GB"/>
          </a:p>
        </p:txBody>
      </p:sp>
      <p:sp>
        <p:nvSpPr>
          <p:cNvPr id="8" name="Text 3"/>
          <p:cNvSpPr/>
          <p:nvPr/>
        </p:nvSpPr>
        <p:spPr>
          <a:xfrm>
            <a:off x="670560" y="1693370"/>
            <a:ext cx="4754880" cy="457200"/>
          </a:xfrm>
          <a:prstGeom prst="rect">
            <a:avLst/>
          </a:prstGeom>
          <a:noFill/>
          <a:ln/>
        </p:spPr>
        <p:txBody>
          <a:bodyPr wrap="square" rtlCol="0" anchor="ctr"/>
          <a:lstStyle/>
          <a:p>
            <a:pPr marL="0" indent="0">
              <a:buNone/>
            </a:pPr>
            <a:r>
              <a:rPr lang="en-US" sz="1400" b="1" dirty="0">
                <a:solidFill>
                  <a:srgbClr val="FF6600"/>
                </a:solidFill>
                <a:latin typeface="Poppins" pitchFamily="34" charset="0"/>
                <a:ea typeface="Poppins" pitchFamily="34" charset="-122"/>
                <a:cs typeface="Poppins" pitchFamily="34" charset="-120"/>
              </a:rPr>
              <a:t>In today's session we want to agree</a:t>
            </a:r>
            <a:endParaRPr lang="en-US" sz="1400" dirty="0"/>
          </a:p>
        </p:txBody>
      </p:sp>
      <p:sp>
        <p:nvSpPr>
          <p:cNvPr id="9" name="Text 4"/>
          <p:cNvSpPr/>
          <p:nvPr/>
        </p:nvSpPr>
        <p:spPr>
          <a:xfrm>
            <a:off x="731520" y="2108063"/>
            <a:ext cx="4754880" cy="2011680"/>
          </a:xfrm>
          <a:prstGeom prst="rect">
            <a:avLst/>
          </a:prstGeom>
          <a:noFill/>
          <a:ln/>
        </p:spPr>
        <p:txBody>
          <a:bodyPr wrap="square" rtlCol="0" anchor="ctr"/>
          <a:lstStyle/>
          <a:p>
            <a:pPr marL="342900" indent="-342900">
              <a:buSzPct val="100000"/>
              <a:buChar char="•"/>
            </a:pPr>
            <a:r>
              <a:rPr lang="en-US" sz="1200" dirty="0">
                <a:solidFill>
                  <a:srgbClr val="333333"/>
                </a:solidFill>
                <a:latin typeface="Poppins" pitchFamily="34" charset="0"/>
                <a:ea typeface="Poppins" pitchFamily="34" charset="-122"/>
                <a:cs typeface="Poppins" pitchFamily="34" charset="-120"/>
              </a:rPr>
              <a:t>The profitability formula: revenue definition, cost definition, and margin calculation</a:t>
            </a:r>
          </a:p>
          <a:p>
            <a:pPr marL="342900" indent="-342900">
              <a:buSzPct val="100000"/>
              <a:buChar char="•"/>
            </a:pPr>
            <a:endParaRPr lang="en-US" sz="1200" dirty="0"/>
          </a:p>
          <a:p>
            <a:pPr marL="342900" indent="-342900">
              <a:buSzPct val="100000"/>
              <a:buChar char="•"/>
            </a:pPr>
            <a:r>
              <a:rPr lang="en-US" sz="1200" dirty="0">
                <a:solidFill>
                  <a:srgbClr val="333333"/>
                </a:solidFill>
                <a:latin typeface="Poppins" pitchFamily="34" charset="0"/>
                <a:ea typeface="Poppins" pitchFamily="34" charset="-122"/>
                <a:cs typeface="Poppins" pitchFamily="34" charset="-120"/>
              </a:rPr>
              <a:t>The reporting hierarchy: sector to asset to contract</a:t>
            </a:r>
            <a:endParaRPr lang="en-US" sz="1200" dirty="0"/>
          </a:p>
          <a:p>
            <a:pPr marL="342900" indent="-342900">
              <a:buSzPct val="100000"/>
              <a:buChar char="•"/>
            </a:pPr>
            <a:endParaRPr lang="en-US" sz="1200" dirty="0">
              <a:solidFill>
                <a:srgbClr val="333333"/>
              </a:solidFill>
              <a:latin typeface="Poppins" pitchFamily="34" charset="0"/>
              <a:ea typeface="Poppins" pitchFamily="34" charset="-122"/>
              <a:cs typeface="Poppins" pitchFamily="34" charset="-120"/>
            </a:endParaRPr>
          </a:p>
          <a:p>
            <a:pPr marL="342900" indent="-342900">
              <a:buSzPct val="100000"/>
              <a:buChar char="•"/>
            </a:pPr>
            <a:r>
              <a:rPr lang="en-US" sz="1200" dirty="0">
                <a:solidFill>
                  <a:srgbClr val="333333"/>
                </a:solidFill>
                <a:latin typeface="Poppins" pitchFamily="34" charset="0"/>
                <a:ea typeface="Poppins" pitchFamily="34" charset="-122"/>
                <a:cs typeface="Poppins" pitchFamily="34" charset="-120"/>
              </a:rPr>
              <a:t>Which data sources feed which measures, and how we extract them</a:t>
            </a:r>
            <a:endParaRPr lang="en-US" sz="1200" dirty="0"/>
          </a:p>
          <a:p>
            <a:pPr marL="342900" indent="-342900">
              <a:buSzPct val="100000"/>
              <a:buChar char="•"/>
            </a:pPr>
            <a:endParaRPr lang="en-US" sz="1200" dirty="0">
              <a:solidFill>
                <a:srgbClr val="333333"/>
              </a:solidFill>
              <a:latin typeface="Poppins" pitchFamily="34" charset="0"/>
              <a:ea typeface="Poppins" pitchFamily="34" charset="-122"/>
              <a:cs typeface="Poppins" pitchFamily="34" charset="-120"/>
            </a:endParaRPr>
          </a:p>
          <a:p>
            <a:pPr marL="342900" indent="-342900">
              <a:buSzPct val="100000"/>
              <a:buChar char="•"/>
            </a:pPr>
            <a:r>
              <a:rPr lang="en-US" sz="1200" dirty="0">
                <a:solidFill>
                  <a:srgbClr val="333333"/>
                </a:solidFill>
                <a:latin typeface="Poppins" pitchFamily="34" charset="0"/>
                <a:ea typeface="Poppins" pitchFamily="34" charset="-122"/>
                <a:cs typeface="Poppins" pitchFamily="34" charset="-120"/>
              </a:rPr>
              <a:t>Who uses the report, how often, and what decisions it supports</a:t>
            </a:r>
            <a:endParaRPr lang="en-US" sz="1200" dirty="0"/>
          </a:p>
        </p:txBody>
      </p:sp>
      <p:sp>
        <p:nvSpPr>
          <p:cNvPr id="10" name="Text 5"/>
          <p:cNvSpPr/>
          <p:nvPr/>
        </p:nvSpPr>
        <p:spPr>
          <a:xfrm>
            <a:off x="731520" y="4028303"/>
            <a:ext cx="4754880" cy="365760"/>
          </a:xfrm>
          <a:prstGeom prst="rect">
            <a:avLst/>
          </a:prstGeom>
          <a:noFill/>
          <a:ln/>
        </p:spPr>
        <p:txBody>
          <a:bodyPr wrap="square" rtlCol="0" anchor="ctr"/>
          <a:lstStyle/>
          <a:p>
            <a:pPr marL="0" indent="0">
              <a:buNone/>
            </a:pPr>
            <a:r>
              <a:rPr lang="en-US" sz="1300" b="1" dirty="0">
                <a:solidFill>
                  <a:srgbClr val="5B6B7A"/>
                </a:solidFill>
                <a:latin typeface="Poppins" pitchFamily="34" charset="0"/>
                <a:ea typeface="Poppins" pitchFamily="34" charset="-122"/>
                <a:cs typeface="Poppins" pitchFamily="34" charset="-120"/>
              </a:rPr>
              <a:t>What this session is not</a:t>
            </a:r>
            <a:endParaRPr lang="en-US" sz="1300" dirty="0"/>
          </a:p>
        </p:txBody>
      </p:sp>
      <p:sp>
        <p:nvSpPr>
          <p:cNvPr id="11" name="Text 6"/>
          <p:cNvSpPr/>
          <p:nvPr/>
        </p:nvSpPr>
        <p:spPr>
          <a:xfrm>
            <a:off x="731520" y="4394063"/>
            <a:ext cx="4754880" cy="914400"/>
          </a:xfrm>
          <a:prstGeom prst="rect">
            <a:avLst/>
          </a:prstGeom>
          <a:noFill/>
          <a:ln/>
        </p:spPr>
        <p:txBody>
          <a:bodyPr wrap="square" rtlCol="0" anchor="ctr"/>
          <a:lstStyle/>
          <a:p>
            <a:pPr marL="342900" indent="-342900">
              <a:buSzPct val="100000"/>
              <a:buChar char="•"/>
            </a:pPr>
            <a:r>
              <a:rPr lang="en-US" sz="1200" dirty="0">
                <a:solidFill>
                  <a:srgbClr val="333333"/>
                </a:solidFill>
                <a:latin typeface="Poppins" pitchFamily="34" charset="0"/>
                <a:ea typeface="Poppins" pitchFamily="34" charset="-122"/>
                <a:cs typeface="Poppins" pitchFamily="34" charset="-120"/>
              </a:rPr>
              <a:t>A technical deep-dive into Fabric or Power BI configuration</a:t>
            </a:r>
          </a:p>
          <a:p>
            <a:pPr marL="342900" indent="-342900">
              <a:buSzPct val="100000"/>
              <a:buChar char="•"/>
            </a:pPr>
            <a:endParaRPr lang="en-US" sz="1200" dirty="0"/>
          </a:p>
          <a:p>
            <a:pPr marL="342900" indent="-342900">
              <a:buSzPct val="100000"/>
              <a:buChar char="•"/>
            </a:pPr>
            <a:r>
              <a:rPr lang="en-US" sz="1200" dirty="0">
                <a:solidFill>
                  <a:srgbClr val="333333"/>
                </a:solidFill>
                <a:latin typeface="Poppins" pitchFamily="34" charset="0"/>
                <a:ea typeface="Poppins" pitchFamily="34" charset="-122"/>
                <a:cs typeface="Poppins" pitchFamily="34" charset="-120"/>
              </a:rPr>
              <a:t>A review of every data field in every system</a:t>
            </a:r>
            <a:endParaRPr lang="en-US" sz="1200" dirty="0"/>
          </a:p>
        </p:txBody>
      </p:sp>
      <p:sp>
        <p:nvSpPr>
          <p:cNvPr id="12" name="Shape 7"/>
          <p:cNvSpPr/>
          <p:nvPr/>
        </p:nvSpPr>
        <p:spPr>
          <a:xfrm>
            <a:off x="6217920" y="1645920"/>
            <a:ext cx="5303520" cy="3657600"/>
          </a:xfrm>
          <a:prstGeom prst="roundRect">
            <a:avLst>
              <a:gd name="adj" fmla="val 2000"/>
            </a:avLst>
          </a:prstGeom>
          <a:solidFill>
            <a:srgbClr val="F7F9FB"/>
          </a:solidFill>
          <a:ln w="12700">
            <a:solidFill>
              <a:srgbClr val="D0D6DC"/>
            </a:solidFill>
            <a:prstDash val="solid"/>
          </a:ln>
        </p:spPr>
        <p:txBody>
          <a:bodyPr/>
          <a:lstStyle/>
          <a:p>
            <a:endParaRPr lang="en-GB"/>
          </a:p>
        </p:txBody>
      </p:sp>
      <p:sp>
        <p:nvSpPr>
          <p:cNvPr id="13" name="Text 8"/>
          <p:cNvSpPr/>
          <p:nvPr/>
        </p:nvSpPr>
        <p:spPr>
          <a:xfrm>
            <a:off x="6492240" y="1737360"/>
            <a:ext cx="4754880" cy="457200"/>
          </a:xfrm>
          <a:prstGeom prst="rect">
            <a:avLst/>
          </a:prstGeom>
          <a:noFill/>
          <a:ln/>
        </p:spPr>
        <p:txBody>
          <a:bodyPr wrap="square" rtlCol="0" anchor="ctr"/>
          <a:lstStyle/>
          <a:p>
            <a:pPr marL="0" indent="0">
              <a:buNone/>
            </a:pPr>
            <a:r>
              <a:rPr lang="en-US" sz="1400" b="1" dirty="0">
                <a:solidFill>
                  <a:srgbClr val="FF6600"/>
                </a:solidFill>
                <a:latin typeface="Poppins" pitchFamily="34" charset="0"/>
                <a:ea typeface="Poppins" pitchFamily="34" charset="-122"/>
                <a:cs typeface="Poppins" pitchFamily="34" charset="-120"/>
              </a:rPr>
              <a:t>End outcomes</a:t>
            </a:r>
            <a:endParaRPr lang="en-US" sz="1400" dirty="0"/>
          </a:p>
        </p:txBody>
      </p:sp>
      <p:sp>
        <p:nvSpPr>
          <p:cNvPr id="14" name="Shape 9"/>
          <p:cNvSpPr/>
          <p:nvPr/>
        </p:nvSpPr>
        <p:spPr>
          <a:xfrm>
            <a:off x="6492240" y="2286000"/>
            <a:ext cx="411480" cy="411480"/>
          </a:xfrm>
          <a:prstGeom prst="ellipse">
            <a:avLst/>
          </a:prstGeom>
          <a:solidFill>
            <a:srgbClr val="FF6600"/>
          </a:solidFill>
          <a:ln/>
        </p:spPr>
        <p:txBody>
          <a:bodyPr/>
          <a:lstStyle/>
          <a:p>
            <a:endParaRPr lang="en-GB"/>
          </a:p>
        </p:txBody>
      </p:sp>
      <p:sp>
        <p:nvSpPr>
          <p:cNvPr id="15" name="Text 10"/>
          <p:cNvSpPr/>
          <p:nvPr/>
        </p:nvSpPr>
        <p:spPr>
          <a:xfrm>
            <a:off x="6492240" y="2286000"/>
            <a:ext cx="411480" cy="411480"/>
          </a:xfrm>
          <a:prstGeom prst="rect">
            <a:avLst/>
          </a:prstGeom>
          <a:noFill/>
          <a:ln/>
        </p:spPr>
        <p:txBody>
          <a:bodyPr wrap="square" rtlCol="0" anchor="ctr"/>
          <a:lstStyle/>
          <a:p>
            <a:pPr marL="0" indent="0" algn="ctr">
              <a:buNone/>
            </a:pPr>
            <a:r>
              <a:rPr lang="en-US" sz="1400" b="1" dirty="0">
                <a:solidFill>
                  <a:srgbClr val="FFFFFF"/>
                </a:solidFill>
                <a:latin typeface="Poppins" pitchFamily="34" charset="0"/>
                <a:ea typeface="Poppins" pitchFamily="34" charset="-122"/>
                <a:cs typeface="Poppins" pitchFamily="34" charset="-120"/>
              </a:rPr>
              <a:t>1</a:t>
            </a:r>
            <a:endParaRPr lang="en-US" sz="1400" dirty="0"/>
          </a:p>
        </p:txBody>
      </p:sp>
      <p:sp>
        <p:nvSpPr>
          <p:cNvPr id="16" name="Text 11"/>
          <p:cNvSpPr/>
          <p:nvPr/>
        </p:nvSpPr>
        <p:spPr>
          <a:xfrm>
            <a:off x="7040880" y="2286000"/>
            <a:ext cx="4206240" cy="411480"/>
          </a:xfrm>
          <a:prstGeom prst="rect">
            <a:avLst/>
          </a:prstGeom>
          <a:noFill/>
          <a:ln/>
        </p:spPr>
        <p:txBody>
          <a:bodyPr wrap="square" rtlCol="0" anchor="ctr"/>
          <a:lstStyle/>
          <a:p>
            <a:pPr marL="0" indent="0">
              <a:buNone/>
            </a:pPr>
            <a:r>
              <a:rPr lang="en-US" sz="1200" dirty="0">
                <a:solidFill>
                  <a:srgbClr val="333333"/>
                </a:solidFill>
                <a:latin typeface="Poppins" pitchFamily="34" charset="0"/>
                <a:ea typeface="Poppins" pitchFamily="34" charset="-122"/>
                <a:cs typeface="Poppins" pitchFamily="34" charset="-120"/>
              </a:rPr>
              <a:t>Agreed profitability model and measure definitions ready for development</a:t>
            </a:r>
            <a:endParaRPr lang="en-US" sz="1200" dirty="0"/>
          </a:p>
        </p:txBody>
      </p:sp>
      <p:sp>
        <p:nvSpPr>
          <p:cNvPr id="17" name="Shape 12"/>
          <p:cNvSpPr/>
          <p:nvPr/>
        </p:nvSpPr>
        <p:spPr>
          <a:xfrm>
            <a:off x="6492240" y="3291840"/>
            <a:ext cx="411480" cy="411480"/>
          </a:xfrm>
          <a:prstGeom prst="ellipse">
            <a:avLst/>
          </a:prstGeom>
          <a:solidFill>
            <a:srgbClr val="FF6600"/>
          </a:solidFill>
          <a:ln/>
        </p:spPr>
        <p:txBody>
          <a:bodyPr/>
          <a:lstStyle/>
          <a:p>
            <a:endParaRPr lang="en-GB"/>
          </a:p>
        </p:txBody>
      </p:sp>
      <p:sp>
        <p:nvSpPr>
          <p:cNvPr id="18" name="Text 13"/>
          <p:cNvSpPr/>
          <p:nvPr/>
        </p:nvSpPr>
        <p:spPr>
          <a:xfrm>
            <a:off x="6492240" y="3291840"/>
            <a:ext cx="411480" cy="411480"/>
          </a:xfrm>
          <a:prstGeom prst="rect">
            <a:avLst/>
          </a:prstGeom>
          <a:noFill/>
          <a:ln/>
        </p:spPr>
        <p:txBody>
          <a:bodyPr wrap="square" rtlCol="0" anchor="ctr"/>
          <a:lstStyle/>
          <a:p>
            <a:pPr marL="0" indent="0" algn="ctr">
              <a:buNone/>
            </a:pPr>
            <a:r>
              <a:rPr lang="en-US" sz="1400" b="1" dirty="0">
                <a:solidFill>
                  <a:srgbClr val="FFFFFF"/>
                </a:solidFill>
                <a:latin typeface="Poppins" pitchFamily="34" charset="0"/>
                <a:ea typeface="Poppins" pitchFamily="34" charset="-122"/>
                <a:cs typeface="Poppins" pitchFamily="34" charset="-120"/>
              </a:rPr>
              <a:t>2</a:t>
            </a:r>
            <a:endParaRPr lang="en-US" sz="1400" dirty="0"/>
          </a:p>
        </p:txBody>
      </p:sp>
      <p:sp>
        <p:nvSpPr>
          <p:cNvPr id="19" name="Text 14"/>
          <p:cNvSpPr/>
          <p:nvPr/>
        </p:nvSpPr>
        <p:spPr>
          <a:xfrm>
            <a:off x="7040880" y="3291840"/>
            <a:ext cx="4206240" cy="411480"/>
          </a:xfrm>
          <a:prstGeom prst="rect">
            <a:avLst/>
          </a:prstGeom>
          <a:noFill/>
          <a:ln/>
        </p:spPr>
        <p:txBody>
          <a:bodyPr wrap="square" rtlCol="0" anchor="ctr"/>
          <a:lstStyle/>
          <a:p>
            <a:pPr marL="0" indent="0">
              <a:buNone/>
            </a:pPr>
            <a:r>
              <a:rPr lang="en-US" sz="1200" dirty="0">
                <a:solidFill>
                  <a:srgbClr val="333333"/>
                </a:solidFill>
                <a:latin typeface="Poppins" pitchFamily="34" charset="0"/>
                <a:ea typeface="Poppins" pitchFamily="34" charset="-122"/>
                <a:cs typeface="Poppins" pitchFamily="34" charset="-120"/>
              </a:rPr>
              <a:t>Confirmed data source mapping with extraction approach per source</a:t>
            </a:r>
            <a:endParaRPr lang="en-US" sz="1200" dirty="0"/>
          </a:p>
        </p:txBody>
      </p:sp>
      <p:sp>
        <p:nvSpPr>
          <p:cNvPr id="20" name="Shape 15"/>
          <p:cNvSpPr/>
          <p:nvPr/>
        </p:nvSpPr>
        <p:spPr>
          <a:xfrm>
            <a:off x="6492240" y="4297680"/>
            <a:ext cx="411480" cy="411480"/>
          </a:xfrm>
          <a:prstGeom prst="ellipse">
            <a:avLst/>
          </a:prstGeom>
          <a:solidFill>
            <a:srgbClr val="FF6600"/>
          </a:solidFill>
          <a:ln/>
        </p:spPr>
        <p:txBody>
          <a:bodyPr/>
          <a:lstStyle/>
          <a:p>
            <a:endParaRPr lang="en-GB"/>
          </a:p>
        </p:txBody>
      </p:sp>
      <p:sp>
        <p:nvSpPr>
          <p:cNvPr id="21" name="Text 16"/>
          <p:cNvSpPr/>
          <p:nvPr/>
        </p:nvSpPr>
        <p:spPr>
          <a:xfrm>
            <a:off x="6492240" y="4297680"/>
            <a:ext cx="411480" cy="411480"/>
          </a:xfrm>
          <a:prstGeom prst="rect">
            <a:avLst/>
          </a:prstGeom>
          <a:noFill/>
          <a:ln/>
        </p:spPr>
        <p:txBody>
          <a:bodyPr wrap="square" rtlCol="0" anchor="ctr"/>
          <a:lstStyle/>
          <a:p>
            <a:pPr marL="0" indent="0" algn="ctr">
              <a:buNone/>
            </a:pPr>
            <a:r>
              <a:rPr lang="en-US" sz="1400" b="1" dirty="0">
                <a:solidFill>
                  <a:srgbClr val="FFFFFF"/>
                </a:solidFill>
                <a:latin typeface="Poppins" pitchFamily="34" charset="0"/>
                <a:ea typeface="Poppins" pitchFamily="34" charset="-122"/>
                <a:cs typeface="Poppins" pitchFamily="34" charset="-120"/>
              </a:rPr>
              <a:t>3</a:t>
            </a:r>
            <a:endParaRPr lang="en-US" sz="1400" dirty="0"/>
          </a:p>
        </p:txBody>
      </p:sp>
      <p:sp>
        <p:nvSpPr>
          <p:cNvPr id="22" name="Text 17"/>
          <p:cNvSpPr/>
          <p:nvPr/>
        </p:nvSpPr>
        <p:spPr>
          <a:xfrm>
            <a:off x="7040880" y="4297680"/>
            <a:ext cx="4206240" cy="411480"/>
          </a:xfrm>
          <a:prstGeom prst="rect">
            <a:avLst/>
          </a:prstGeom>
          <a:noFill/>
          <a:ln/>
        </p:spPr>
        <p:txBody>
          <a:bodyPr wrap="square" rtlCol="0" anchor="ctr"/>
          <a:lstStyle/>
          <a:p>
            <a:pPr marL="0" indent="0">
              <a:buNone/>
            </a:pPr>
            <a:r>
              <a:rPr lang="en-US" sz="1200" dirty="0">
                <a:solidFill>
                  <a:srgbClr val="333333"/>
                </a:solidFill>
                <a:latin typeface="Poppins" pitchFamily="34" charset="0"/>
                <a:ea typeface="Poppins" pitchFamily="34" charset="-122"/>
                <a:cs typeface="Poppins" pitchFamily="34" charset="-120"/>
              </a:rPr>
              <a:t>Clear next steps: access provisioning, sample extracts, and first sprint timeline</a:t>
            </a:r>
            <a:endParaRPr lang="en-US" sz="1200" dirty="0"/>
          </a:p>
        </p:txBody>
      </p:sp>
      <p:sp>
        <p:nvSpPr>
          <p:cNvPr id="23" name="Shape 18"/>
          <p:cNvSpPr/>
          <p:nvPr/>
        </p:nvSpPr>
        <p:spPr>
          <a:xfrm>
            <a:off x="457200" y="5705362"/>
            <a:ext cx="11064240" cy="548640"/>
          </a:xfrm>
          <a:prstGeom prst="roundRect">
            <a:avLst>
              <a:gd name="adj" fmla="val 8333"/>
            </a:avLst>
          </a:prstGeom>
          <a:solidFill>
            <a:srgbClr val="FF6600"/>
          </a:solidFill>
          <a:ln/>
        </p:spPr>
        <p:txBody>
          <a:bodyPr/>
          <a:lstStyle/>
          <a:p>
            <a:endParaRPr lang="en-GB"/>
          </a:p>
        </p:txBody>
      </p:sp>
      <p:sp>
        <p:nvSpPr>
          <p:cNvPr id="24" name="Text 19"/>
          <p:cNvSpPr/>
          <p:nvPr/>
        </p:nvSpPr>
        <p:spPr>
          <a:xfrm>
            <a:off x="640079" y="5705362"/>
            <a:ext cx="10679397" cy="548640"/>
          </a:xfrm>
          <a:prstGeom prst="rect">
            <a:avLst/>
          </a:prstGeom>
          <a:noFill/>
          <a:ln/>
        </p:spPr>
        <p:txBody>
          <a:bodyPr wrap="square" rtlCol="0" anchor="ctr"/>
          <a:lstStyle/>
          <a:p>
            <a:pPr marL="0" indent="0">
              <a:buNone/>
            </a:pPr>
            <a:r>
              <a:rPr lang="en-US" sz="1300" b="1" dirty="0">
                <a:solidFill>
                  <a:srgbClr val="FFFFFF"/>
                </a:solidFill>
                <a:latin typeface="Poppins" pitchFamily="34" charset="0"/>
                <a:ea typeface="Poppins" pitchFamily="34" charset="-122"/>
                <a:cs typeface="Poppins" pitchFamily="34" charset="-120"/>
              </a:rPr>
              <a:t>By the end of this hour, we should have everything Synetec needs to start building.</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pic>
        <p:nvPicPr>
          <p:cNvPr id="2" name="Image 0" descr="/sessions/bold-pensive-galileo/workshop-gen/slide-corner-pattern.png"/>
          <p:cNvPicPr>
            <a:picLocks noChangeAspect="1"/>
          </p:cNvPicPr>
          <p:nvPr/>
        </p:nvPicPr>
        <p:blipFill>
          <a:blip r:embed="rId3"/>
          <a:stretch>
            <a:fillRect/>
          </a:stretch>
        </p:blipFill>
        <p:spPr>
          <a:xfrm>
            <a:off x="9921240" y="-237744"/>
            <a:ext cx="2267712" cy="2002536"/>
          </a:xfrm>
          <a:prstGeom prst="rect">
            <a:avLst/>
          </a:prstGeom>
        </p:spPr>
      </p:pic>
      <p:sp>
        <p:nvSpPr>
          <p:cNvPr id="3" name="Text 0"/>
          <p:cNvSpPr/>
          <p:nvPr/>
        </p:nvSpPr>
        <p:spPr>
          <a:xfrm>
            <a:off x="457200" y="274320"/>
            <a:ext cx="9144000" cy="731520"/>
          </a:xfrm>
          <a:prstGeom prst="rect">
            <a:avLst/>
          </a:prstGeom>
          <a:noFill/>
          <a:ln/>
        </p:spPr>
        <p:txBody>
          <a:bodyPr wrap="square" lIns="0" tIns="0" rIns="0" bIns="0" rtlCol="0" anchor="ctr"/>
          <a:lstStyle/>
          <a:p>
            <a:pPr marL="0" indent="0">
              <a:buNone/>
            </a:pPr>
            <a:r>
              <a:rPr lang="en-US" sz="3600" b="1" dirty="0">
                <a:solidFill>
                  <a:srgbClr val="5B6B7A"/>
                </a:solidFill>
                <a:latin typeface="Poppins" pitchFamily="34" charset="0"/>
                <a:ea typeface="Poppins" pitchFamily="34" charset="-122"/>
                <a:cs typeface="Poppins" pitchFamily="34" charset="-120"/>
              </a:rPr>
              <a:t>Profitability model and definitions</a:t>
            </a:r>
            <a:r>
              <a:rPr lang="en-US" sz="3600" b="1" dirty="0">
                <a:solidFill>
                  <a:srgbClr val="FF6600"/>
                </a:solidFill>
                <a:latin typeface="Poppins" pitchFamily="34" charset="0"/>
                <a:ea typeface="Poppins" pitchFamily="34" charset="-122"/>
                <a:cs typeface="Poppins" pitchFamily="34" charset="-120"/>
              </a:rPr>
              <a:t>.</a:t>
            </a:r>
            <a:endParaRPr lang="en-US" sz="3600" dirty="0"/>
          </a:p>
        </p:txBody>
      </p:sp>
      <p:pic>
        <p:nvPicPr>
          <p:cNvPr id="4" name="Image 1" descr="/sessions/bold-pensive-galileo/workshop-gen/slide-footer-rule.png"/>
          <p:cNvPicPr>
            <a:picLocks noChangeAspect="1"/>
          </p:cNvPicPr>
          <p:nvPr/>
        </p:nvPicPr>
        <p:blipFill>
          <a:blip r:embed="rId4"/>
          <a:stretch>
            <a:fillRect/>
          </a:stretch>
        </p:blipFill>
        <p:spPr>
          <a:xfrm>
            <a:off x="731520" y="6574536"/>
            <a:ext cx="10515600" cy="27432"/>
          </a:xfrm>
          <a:prstGeom prst="rect">
            <a:avLst/>
          </a:prstGeom>
        </p:spPr>
      </p:pic>
      <p:sp>
        <p:nvSpPr>
          <p:cNvPr id="6" name="Text 1"/>
          <p:cNvSpPr/>
          <p:nvPr/>
        </p:nvSpPr>
        <p:spPr>
          <a:xfrm>
            <a:off x="457200" y="1024128"/>
            <a:ext cx="9144000" cy="457200"/>
          </a:xfrm>
          <a:prstGeom prst="rect">
            <a:avLst/>
          </a:prstGeom>
          <a:noFill/>
          <a:ln/>
        </p:spPr>
        <p:txBody>
          <a:bodyPr wrap="square" rtlCol="0" anchor="ctr"/>
          <a:lstStyle/>
          <a:p>
            <a:pPr marL="0" indent="0">
              <a:buNone/>
            </a:pPr>
            <a:r>
              <a:rPr lang="en-US" sz="1400" i="1" dirty="0">
                <a:solidFill>
                  <a:srgbClr val="5B6B7A"/>
                </a:solidFill>
                <a:latin typeface="Poppins" pitchFamily="34" charset="0"/>
                <a:ea typeface="Poppins" pitchFamily="34" charset="-122"/>
                <a:cs typeface="Poppins" pitchFamily="34" charset="-120"/>
              </a:rPr>
              <a:t>How should contract profitability be calculated, and which measures matter most?</a:t>
            </a:r>
            <a:endParaRPr lang="en-US" sz="1400" dirty="0"/>
          </a:p>
        </p:txBody>
      </p:sp>
      <p:sp>
        <p:nvSpPr>
          <p:cNvPr id="7" name="Shape 2"/>
          <p:cNvSpPr/>
          <p:nvPr/>
        </p:nvSpPr>
        <p:spPr>
          <a:xfrm>
            <a:off x="457200" y="1691640"/>
            <a:ext cx="5303520" cy="3657600"/>
          </a:xfrm>
          <a:prstGeom prst="roundRect">
            <a:avLst>
              <a:gd name="adj" fmla="val 2000"/>
            </a:avLst>
          </a:prstGeom>
          <a:solidFill>
            <a:srgbClr val="F7F9FB"/>
          </a:solidFill>
          <a:ln w="12700">
            <a:solidFill>
              <a:srgbClr val="D0D6DC"/>
            </a:solidFill>
            <a:prstDash val="solid"/>
          </a:ln>
        </p:spPr>
        <p:txBody>
          <a:bodyPr/>
          <a:lstStyle/>
          <a:p>
            <a:endParaRPr lang="en-GB"/>
          </a:p>
        </p:txBody>
      </p:sp>
      <p:sp>
        <p:nvSpPr>
          <p:cNvPr id="8" name="Text 3"/>
          <p:cNvSpPr/>
          <p:nvPr/>
        </p:nvSpPr>
        <p:spPr>
          <a:xfrm>
            <a:off x="457200" y="1691640"/>
            <a:ext cx="5303520" cy="502920"/>
          </a:xfrm>
          <a:prstGeom prst="rect">
            <a:avLst/>
          </a:prstGeom>
          <a:noFill/>
          <a:ln/>
        </p:spPr>
        <p:txBody>
          <a:bodyPr wrap="square" rtlCol="0" anchor="ctr"/>
          <a:lstStyle/>
          <a:p>
            <a:pPr marL="0" indent="0" algn="ctr">
              <a:buNone/>
            </a:pPr>
            <a:r>
              <a:rPr lang="en-US" sz="1500" b="1" dirty="0">
                <a:solidFill>
                  <a:srgbClr val="1B2430"/>
                </a:solidFill>
                <a:latin typeface="Poppins" pitchFamily="34" charset="0"/>
                <a:ea typeface="Poppins" pitchFamily="34" charset="-122"/>
                <a:cs typeface="Poppins" pitchFamily="34" charset="-120"/>
              </a:rPr>
              <a:t>Revenue</a:t>
            </a:r>
            <a:endParaRPr lang="en-US" sz="1500" dirty="0"/>
          </a:p>
        </p:txBody>
      </p:sp>
      <p:sp>
        <p:nvSpPr>
          <p:cNvPr id="9" name="Text 4"/>
          <p:cNvSpPr/>
          <p:nvPr/>
        </p:nvSpPr>
        <p:spPr>
          <a:xfrm>
            <a:off x="731520" y="2286000"/>
            <a:ext cx="4754880" cy="2560320"/>
          </a:xfrm>
          <a:prstGeom prst="rect">
            <a:avLst/>
          </a:prstGeom>
          <a:noFill/>
          <a:ln/>
        </p:spPr>
        <p:txBody>
          <a:bodyPr wrap="square" rtlCol="0" anchor="ctr"/>
          <a:lstStyle/>
          <a:p>
            <a:pPr marL="342900" indent="-342900">
              <a:buSzPct val="100000"/>
              <a:buChar char="•"/>
            </a:pPr>
            <a:r>
              <a:rPr lang="en-US" sz="1200" dirty="0">
                <a:solidFill>
                  <a:srgbClr val="333333"/>
                </a:solidFill>
                <a:latin typeface="Poppins" pitchFamily="34" charset="0"/>
                <a:ea typeface="Poppins" pitchFamily="34" charset="-122"/>
                <a:cs typeface="Poppins" pitchFamily="34" charset="-120"/>
              </a:rPr>
              <a:t>How is revenue recognised per contract? Lump-sum fees, monthly retainers, milestone payments, or a mix?</a:t>
            </a:r>
          </a:p>
          <a:p>
            <a:pPr marL="342900" indent="-342900">
              <a:buSzPct val="100000"/>
              <a:buChar char="•"/>
            </a:pPr>
            <a:endParaRPr lang="en-US" sz="1200" dirty="0"/>
          </a:p>
          <a:p>
            <a:pPr marL="342900" indent="-342900">
              <a:buSzPct val="100000"/>
              <a:buChar char="•"/>
            </a:pPr>
            <a:r>
              <a:rPr lang="en-US" sz="1200" dirty="0">
                <a:solidFill>
                  <a:srgbClr val="333333"/>
                </a:solidFill>
                <a:latin typeface="Poppins" pitchFamily="34" charset="0"/>
                <a:ea typeface="Poppins" pitchFamily="34" charset="-122"/>
                <a:cs typeface="Poppins" pitchFamily="34" charset="-120"/>
              </a:rPr>
              <a:t>Is revenue recorded in NetSuite only, or do some contracts have revenue data elsewhere?</a:t>
            </a:r>
            <a:endParaRPr lang="en-US" sz="1200" dirty="0"/>
          </a:p>
          <a:p>
            <a:pPr marL="342900" indent="-342900">
              <a:buSzPct val="100000"/>
              <a:buChar char="•"/>
            </a:pPr>
            <a:endParaRPr lang="en-US" sz="1200" dirty="0">
              <a:solidFill>
                <a:srgbClr val="333333"/>
              </a:solidFill>
              <a:latin typeface="Poppins" pitchFamily="34" charset="0"/>
              <a:ea typeface="Poppins" pitchFamily="34" charset="-122"/>
              <a:cs typeface="Poppins" pitchFamily="34" charset="-120"/>
            </a:endParaRPr>
          </a:p>
          <a:p>
            <a:pPr marL="342900" indent="-342900">
              <a:buSzPct val="100000"/>
              <a:buChar char="•"/>
            </a:pPr>
            <a:r>
              <a:rPr lang="en-US" sz="1200" dirty="0">
                <a:solidFill>
                  <a:srgbClr val="333333"/>
                </a:solidFill>
                <a:latin typeface="Poppins" pitchFamily="34" charset="0"/>
                <a:ea typeface="Poppins" pitchFamily="34" charset="-122"/>
                <a:cs typeface="Poppins" pitchFamily="34" charset="-120"/>
              </a:rPr>
              <a:t>Are there contracts with shared or allocated revenue that need splitting rules?</a:t>
            </a:r>
            <a:endParaRPr lang="en-US" sz="1200" dirty="0"/>
          </a:p>
        </p:txBody>
      </p:sp>
      <p:sp>
        <p:nvSpPr>
          <p:cNvPr id="10" name="Shape 5"/>
          <p:cNvSpPr/>
          <p:nvPr/>
        </p:nvSpPr>
        <p:spPr>
          <a:xfrm>
            <a:off x="6217920" y="1691640"/>
            <a:ext cx="5303520" cy="3657600"/>
          </a:xfrm>
          <a:prstGeom prst="roundRect">
            <a:avLst>
              <a:gd name="adj" fmla="val 2000"/>
            </a:avLst>
          </a:prstGeom>
          <a:solidFill>
            <a:srgbClr val="F7F9FB"/>
          </a:solidFill>
          <a:ln w="12700">
            <a:solidFill>
              <a:srgbClr val="D0D6DC"/>
            </a:solidFill>
            <a:prstDash val="solid"/>
          </a:ln>
        </p:spPr>
        <p:txBody>
          <a:bodyPr/>
          <a:lstStyle/>
          <a:p>
            <a:endParaRPr lang="en-GB"/>
          </a:p>
        </p:txBody>
      </p:sp>
      <p:sp>
        <p:nvSpPr>
          <p:cNvPr id="11" name="Text 6"/>
          <p:cNvSpPr/>
          <p:nvPr/>
        </p:nvSpPr>
        <p:spPr>
          <a:xfrm>
            <a:off x="6217920" y="1691640"/>
            <a:ext cx="5303520" cy="502920"/>
          </a:xfrm>
          <a:prstGeom prst="rect">
            <a:avLst/>
          </a:prstGeom>
          <a:noFill/>
          <a:ln/>
        </p:spPr>
        <p:txBody>
          <a:bodyPr wrap="square" rtlCol="0" anchor="ctr"/>
          <a:lstStyle/>
          <a:p>
            <a:pPr marL="0" indent="0" algn="ctr">
              <a:buNone/>
            </a:pPr>
            <a:r>
              <a:rPr lang="en-US" sz="1500" b="1" dirty="0">
                <a:solidFill>
                  <a:srgbClr val="1B2430"/>
                </a:solidFill>
                <a:latin typeface="Poppins" pitchFamily="34" charset="0"/>
                <a:ea typeface="Poppins" pitchFamily="34" charset="-122"/>
                <a:cs typeface="Poppins" pitchFamily="34" charset="-120"/>
              </a:rPr>
              <a:t>Cost</a:t>
            </a:r>
            <a:endParaRPr lang="en-US" sz="1500" dirty="0"/>
          </a:p>
        </p:txBody>
      </p:sp>
      <p:sp>
        <p:nvSpPr>
          <p:cNvPr id="12" name="Text 7"/>
          <p:cNvSpPr/>
          <p:nvPr/>
        </p:nvSpPr>
        <p:spPr>
          <a:xfrm>
            <a:off x="6492240" y="2286000"/>
            <a:ext cx="4754880" cy="2560320"/>
          </a:xfrm>
          <a:prstGeom prst="rect">
            <a:avLst/>
          </a:prstGeom>
          <a:noFill/>
          <a:ln/>
        </p:spPr>
        <p:txBody>
          <a:bodyPr wrap="square" rtlCol="0" anchor="ctr"/>
          <a:lstStyle/>
          <a:p>
            <a:pPr marL="342900" indent="-342900">
              <a:buSzPct val="100000"/>
              <a:buChar char="•"/>
            </a:pPr>
            <a:r>
              <a:rPr lang="en-US" sz="1200" dirty="0">
                <a:solidFill>
                  <a:srgbClr val="333333"/>
                </a:solidFill>
                <a:latin typeface="Poppins" pitchFamily="34" charset="0"/>
                <a:ea typeface="Poppins" pitchFamily="34" charset="-122"/>
                <a:cs typeface="Poppins" pitchFamily="34" charset="-120"/>
              </a:rPr>
              <a:t>Is cost based on actual time spent, budgeted time, or a blended day rate? Where is time tracked?</a:t>
            </a:r>
          </a:p>
          <a:p>
            <a:pPr marL="342900" indent="-342900">
              <a:buSzPct val="100000"/>
              <a:buChar char="•"/>
            </a:pPr>
            <a:endParaRPr lang="en-US" sz="1200" dirty="0"/>
          </a:p>
          <a:p>
            <a:pPr marL="342900" indent="-342900">
              <a:buSzPct val="100000"/>
              <a:buChar char="•"/>
            </a:pPr>
            <a:r>
              <a:rPr lang="en-US" sz="1200" dirty="0">
                <a:solidFill>
                  <a:srgbClr val="333333"/>
                </a:solidFill>
                <a:latin typeface="Poppins" pitchFamily="34" charset="0"/>
                <a:ea typeface="Poppins" pitchFamily="34" charset="-122"/>
                <a:cs typeface="Poppins" pitchFamily="34" charset="-120"/>
              </a:rPr>
              <a:t>Are there direct costs beyond time (subcontractors, travel, third-party fees) that should appear?</a:t>
            </a:r>
            <a:endParaRPr lang="en-US" sz="1200" dirty="0"/>
          </a:p>
          <a:p>
            <a:pPr marL="342900" indent="-342900">
              <a:buSzPct val="100000"/>
              <a:buChar char="•"/>
            </a:pPr>
            <a:endParaRPr lang="en-US" sz="1200" dirty="0">
              <a:solidFill>
                <a:srgbClr val="333333"/>
              </a:solidFill>
              <a:latin typeface="Poppins" pitchFamily="34" charset="0"/>
              <a:ea typeface="Poppins" pitchFamily="34" charset="-122"/>
              <a:cs typeface="Poppins" pitchFamily="34" charset="-120"/>
            </a:endParaRPr>
          </a:p>
          <a:p>
            <a:pPr marL="342900" indent="-342900">
              <a:buSzPct val="100000"/>
              <a:buChar char="•"/>
            </a:pPr>
            <a:r>
              <a:rPr lang="en-US" sz="1200" dirty="0">
                <a:solidFill>
                  <a:srgbClr val="333333"/>
                </a:solidFill>
                <a:latin typeface="Poppins" pitchFamily="34" charset="0"/>
                <a:ea typeface="Poppins" pitchFamily="34" charset="-122"/>
                <a:cs typeface="Poppins" pitchFamily="34" charset="-120"/>
              </a:rPr>
              <a:t>How are overhead or shared costs handled? Allocated, ignored, or partially included?</a:t>
            </a:r>
            <a:endParaRPr lang="en-US" sz="1200" dirty="0"/>
          </a:p>
        </p:txBody>
      </p:sp>
      <p:sp>
        <p:nvSpPr>
          <p:cNvPr id="13" name="Shape 8"/>
          <p:cNvSpPr/>
          <p:nvPr/>
        </p:nvSpPr>
        <p:spPr>
          <a:xfrm>
            <a:off x="457200" y="5742432"/>
            <a:ext cx="11064240" cy="548640"/>
          </a:xfrm>
          <a:prstGeom prst="roundRect">
            <a:avLst>
              <a:gd name="adj" fmla="val 8333"/>
            </a:avLst>
          </a:prstGeom>
          <a:solidFill>
            <a:srgbClr val="FF6600"/>
          </a:solidFill>
          <a:ln/>
        </p:spPr>
        <p:txBody>
          <a:bodyPr/>
          <a:lstStyle/>
          <a:p>
            <a:endParaRPr lang="en-GB"/>
          </a:p>
        </p:txBody>
      </p:sp>
      <p:sp>
        <p:nvSpPr>
          <p:cNvPr id="14" name="Text 9"/>
          <p:cNvSpPr/>
          <p:nvPr/>
        </p:nvSpPr>
        <p:spPr>
          <a:xfrm>
            <a:off x="640080" y="5742432"/>
            <a:ext cx="10149840" cy="548640"/>
          </a:xfrm>
          <a:prstGeom prst="rect">
            <a:avLst/>
          </a:prstGeom>
          <a:noFill/>
          <a:ln/>
        </p:spPr>
        <p:txBody>
          <a:bodyPr wrap="square" rtlCol="0" anchor="ctr"/>
          <a:lstStyle/>
          <a:p>
            <a:pPr marL="0" indent="0">
              <a:buNone/>
            </a:pPr>
            <a:r>
              <a:rPr lang="en-US" sz="1300" b="1" dirty="0">
                <a:solidFill>
                  <a:srgbClr val="FFFFFF"/>
                </a:solidFill>
                <a:latin typeface="Poppins" pitchFamily="34" charset="0"/>
                <a:ea typeface="Poppins" pitchFamily="34" charset="-122"/>
                <a:cs typeface="Poppins" pitchFamily="34" charset="-120"/>
              </a:rPr>
              <a:t>The profitability formula is the foundation. If we get this right, everything else follows.</a:t>
            </a:r>
            <a:endParaRPr lang="en-US" sz="1300" dirty="0"/>
          </a:p>
        </p:txBody>
      </p:sp>
      <p:pic>
        <p:nvPicPr>
          <p:cNvPr id="15" name="Image 2" descr="/sessions/bold-pensive-galileo/workshop-gen/slide-smark.png">
            <a:extLst>
              <a:ext uri="{FF2B5EF4-FFF2-40B4-BE49-F238E27FC236}">
                <a16:creationId xmlns:a16="http://schemas.microsoft.com/office/drawing/2014/main" id="{790F9FDF-BA35-ED27-50E8-1D937C6641B3}"/>
              </a:ext>
            </a:extLst>
          </p:cNvPr>
          <p:cNvPicPr>
            <a:picLocks noChangeAspect="1"/>
          </p:cNvPicPr>
          <p:nvPr/>
        </p:nvPicPr>
        <p:blipFill>
          <a:blip r:embed="rId5"/>
          <a:stretch>
            <a:fillRect/>
          </a:stretch>
        </p:blipFill>
        <p:spPr>
          <a:xfrm>
            <a:off x="11622024" y="6291072"/>
            <a:ext cx="566928" cy="56692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pic>
        <p:nvPicPr>
          <p:cNvPr id="2" name="Image 0" descr="/sessions/bold-pensive-galileo/workshop-gen/slide-corner-pattern.png"/>
          <p:cNvPicPr>
            <a:picLocks noChangeAspect="1"/>
          </p:cNvPicPr>
          <p:nvPr/>
        </p:nvPicPr>
        <p:blipFill>
          <a:blip r:embed="rId3"/>
          <a:stretch>
            <a:fillRect/>
          </a:stretch>
        </p:blipFill>
        <p:spPr>
          <a:xfrm>
            <a:off x="9921240" y="-237744"/>
            <a:ext cx="2267712" cy="2002536"/>
          </a:xfrm>
          <a:prstGeom prst="rect">
            <a:avLst/>
          </a:prstGeom>
        </p:spPr>
      </p:pic>
      <p:sp>
        <p:nvSpPr>
          <p:cNvPr id="3" name="Text 0"/>
          <p:cNvSpPr/>
          <p:nvPr/>
        </p:nvSpPr>
        <p:spPr>
          <a:xfrm>
            <a:off x="457200" y="274320"/>
            <a:ext cx="9144000" cy="731520"/>
          </a:xfrm>
          <a:prstGeom prst="rect">
            <a:avLst/>
          </a:prstGeom>
          <a:noFill/>
          <a:ln/>
        </p:spPr>
        <p:txBody>
          <a:bodyPr wrap="square" lIns="0" tIns="0" rIns="0" bIns="0" rtlCol="0" anchor="ctr"/>
          <a:lstStyle/>
          <a:p>
            <a:pPr marL="0" indent="0">
              <a:buNone/>
            </a:pPr>
            <a:r>
              <a:rPr lang="en-US" sz="3600" b="1" dirty="0">
                <a:solidFill>
                  <a:srgbClr val="5B6B7A"/>
                </a:solidFill>
                <a:latin typeface="Poppins" pitchFamily="34" charset="0"/>
                <a:ea typeface="Poppins" pitchFamily="34" charset="-122"/>
                <a:cs typeface="Poppins" pitchFamily="34" charset="-120"/>
              </a:rPr>
              <a:t>Sector, asset, and contract hierarchy</a:t>
            </a:r>
            <a:r>
              <a:rPr lang="en-US" sz="3600" b="1" dirty="0">
                <a:solidFill>
                  <a:srgbClr val="FF6600"/>
                </a:solidFill>
                <a:latin typeface="Poppins" pitchFamily="34" charset="0"/>
                <a:ea typeface="Poppins" pitchFamily="34" charset="-122"/>
                <a:cs typeface="Poppins" pitchFamily="34" charset="-120"/>
              </a:rPr>
              <a:t>.</a:t>
            </a:r>
            <a:endParaRPr lang="en-US" sz="3600" dirty="0"/>
          </a:p>
        </p:txBody>
      </p:sp>
      <p:pic>
        <p:nvPicPr>
          <p:cNvPr id="4" name="Image 1" descr="/sessions/bold-pensive-galileo/workshop-gen/slide-footer-rule.png"/>
          <p:cNvPicPr>
            <a:picLocks noChangeAspect="1"/>
          </p:cNvPicPr>
          <p:nvPr/>
        </p:nvPicPr>
        <p:blipFill>
          <a:blip r:embed="rId4"/>
          <a:stretch>
            <a:fillRect/>
          </a:stretch>
        </p:blipFill>
        <p:spPr>
          <a:xfrm>
            <a:off x="731520" y="6574536"/>
            <a:ext cx="10515600" cy="27432"/>
          </a:xfrm>
          <a:prstGeom prst="rect">
            <a:avLst/>
          </a:prstGeom>
        </p:spPr>
      </p:pic>
      <p:sp>
        <p:nvSpPr>
          <p:cNvPr id="6" name="Text 1"/>
          <p:cNvSpPr/>
          <p:nvPr/>
        </p:nvSpPr>
        <p:spPr>
          <a:xfrm>
            <a:off x="457200" y="1024128"/>
            <a:ext cx="9144000" cy="457200"/>
          </a:xfrm>
          <a:prstGeom prst="rect">
            <a:avLst/>
          </a:prstGeom>
          <a:noFill/>
          <a:ln/>
        </p:spPr>
        <p:txBody>
          <a:bodyPr wrap="square" rtlCol="0" anchor="ctr"/>
          <a:lstStyle/>
          <a:p>
            <a:pPr marL="0" indent="0">
              <a:buNone/>
            </a:pPr>
            <a:r>
              <a:rPr lang="en-US" sz="1400" i="1" dirty="0">
                <a:solidFill>
                  <a:srgbClr val="5B6B7A"/>
                </a:solidFill>
                <a:latin typeface="Poppins" pitchFamily="34" charset="0"/>
                <a:ea typeface="Poppins" pitchFamily="34" charset="-122"/>
                <a:cs typeface="Poppins" pitchFamily="34" charset="-120"/>
              </a:rPr>
              <a:t>How should the report be structured for drill-down from sector to contract?</a:t>
            </a:r>
            <a:endParaRPr lang="en-US" sz="1400" dirty="0"/>
          </a:p>
        </p:txBody>
      </p:sp>
      <p:sp>
        <p:nvSpPr>
          <p:cNvPr id="7" name="Shape 2"/>
          <p:cNvSpPr/>
          <p:nvPr/>
        </p:nvSpPr>
        <p:spPr>
          <a:xfrm>
            <a:off x="731520" y="2011680"/>
            <a:ext cx="3200400" cy="1097280"/>
          </a:xfrm>
          <a:prstGeom prst="roundRect">
            <a:avLst>
              <a:gd name="adj" fmla="val 6667"/>
            </a:avLst>
          </a:prstGeom>
          <a:solidFill>
            <a:srgbClr val="1B2430"/>
          </a:solidFill>
          <a:ln/>
        </p:spPr>
        <p:txBody>
          <a:bodyPr/>
          <a:lstStyle/>
          <a:p>
            <a:endParaRPr lang="en-GB"/>
          </a:p>
        </p:txBody>
      </p:sp>
      <p:sp>
        <p:nvSpPr>
          <p:cNvPr id="8" name="Text 3"/>
          <p:cNvSpPr/>
          <p:nvPr/>
        </p:nvSpPr>
        <p:spPr>
          <a:xfrm>
            <a:off x="914400" y="2148840"/>
            <a:ext cx="2834640" cy="822960"/>
          </a:xfrm>
          <a:prstGeom prst="rect">
            <a:avLst/>
          </a:prstGeom>
          <a:noFill/>
          <a:ln/>
        </p:spPr>
        <p:txBody>
          <a:bodyPr wrap="square" rtlCol="0" anchor="ctr"/>
          <a:lstStyle/>
          <a:p>
            <a:pPr marL="0" indent="0">
              <a:buNone/>
            </a:pPr>
            <a:r>
              <a:rPr lang="en-US" sz="1800" b="1" dirty="0">
                <a:solidFill>
                  <a:srgbClr val="FFFFFF"/>
                </a:solidFill>
                <a:latin typeface="Poppins" pitchFamily="34" charset="0"/>
                <a:ea typeface="Poppins" pitchFamily="34" charset="-122"/>
                <a:cs typeface="Poppins" pitchFamily="34" charset="-120"/>
              </a:rPr>
              <a:t>Sector</a:t>
            </a:r>
            <a:endParaRPr lang="en-US" sz="1800" dirty="0"/>
          </a:p>
          <a:p>
            <a:pPr marL="0" indent="0">
              <a:buNone/>
            </a:pPr>
            <a:r>
              <a:rPr lang="en-US" sz="1000" i="1" dirty="0">
                <a:solidFill>
                  <a:srgbClr val="FFFFFF"/>
                </a:solidFill>
                <a:latin typeface="Poppins" pitchFamily="34" charset="0"/>
                <a:ea typeface="Poppins" pitchFamily="34" charset="-122"/>
                <a:cs typeface="Poppins" pitchFamily="34" charset="-120"/>
              </a:rPr>
              <a:t>e.g. Renewables, Social Infrastructure, Transport</a:t>
            </a:r>
            <a:endParaRPr lang="en-US" sz="1800" dirty="0"/>
          </a:p>
        </p:txBody>
      </p:sp>
      <p:sp>
        <p:nvSpPr>
          <p:cNvPr id="9" name="Shape 4"/>
          <p:cNvSpPr/>
          <p:nvPr/>
        </p:nvSpPr>
        <p:spPr>
          <a:xfrm>
            <a:off x="4389120" y="2743200"/>
            <a:ext cx="3200400" cy="1097280"/>
          </a:xfrm>
          <a:prstGeom prst="roundRect">
            <a:avLst>
              <a:gd name="adj" fmla="val 6667"/>
            </a:avLst>
          </a:prstGeom>
          <a:solidFill>
            <a:srgbClr val="FF6600"/>
          </a:solidFill>
          <a:ln/>
        </p:spPr>
        <p:txBody>
          <a:bodyPr/>
          <a:lstStyle/>
          <a:p>
            <a:endParaRPr lang="en-GB"/>
          </a:p>
        </p:txBody>
      </p:sp>
      <p:sp>
        <p:nvSpPr>
          <p:cNvPr id="10" name="Text 5"/>
          <p:cNvSpPr/>
          <p:nvPr/>
        </p:nvSpPr>
        <p:spPr>
          <a:xfrm>
            <a:off x="4572000" y="2880360"/>
            <a:ext cx="2834640" cy="822960"/>
          </a:xfrm>
          <a:prstGeom prst="rect">
            <a:avLst/>
          </a:prstGeom>
          <a:noFill/>
          <a:ln/>
        </p:spPr>
        <p:txBody>
          <a:bodyPr wrap="square" rtlCol="0" anchor="ctr"/>
          <a:lstStyle/>
          <a:p>
            <a:pPr marL="0" indent="0">
              <a:buNone/>
            </a:pPr>
            <a:r>
              <a:rPr lang="en-US" sz="1800" b="1" dirty="0">
                <a:solidFill>
                  <a:srgbClr val="FFFFFF"/>
                </a:solidFill>
                <a:latin typeface="Poppins" pitchFamily="34" charset="0"/>
                <a:ea typeface="Poppins" pitchFamily="34" charset="-122"/>
                <a:cs typeface="Poppins" pitchFamily="34" charset="-120"/>
              </a:rPr>
              <a:t>Asset</a:t>
            </a:r>
            <a:endParaRPr lang="en-US" sz="1800" dirty="0"/>
          </a:p>
          <a:p>
            <a:pPr marL="0" indent="0">
              <a:buNone/>
            </a:pPr>
            <a:r>
              <a:rPr lang="en-US" sz="1000" i="1" dirty="0">
                <a:solidFill>
                  <a:srgbClr val="FFFFFF"/>
                </a:solidFill>
                <a:latin typeface="Poppins" pitchFamily="34" charset="0"/>
                <a:ea typeface="Poppins" pitchFamily="34" charset="-122"/>
                <a:cs typeface="Poppins" pitchFamily="34" charset="-120"/>
              </a:rPr>
              <a:t>e.g. Wind Farm Alpha, Hospital Trust Beta</a:t>
            </a:r>
            <a:endParaRPr lang="en-US" sz="1800" dirty="0"/>
          </a:p>
        </p:txBody>
      </p:sp>
      <p:sp>
        <p:nvSpPr>
          <p:cNvPr id="11" name="Shape 6"/>
          <p:cNvSpPr/>
          <p:nvPr/>
        </p:nvSpPr>
        <p:spPr>
          <a:xfrm>
            <a:off x="8046720" y="3474720"/>
            <a:ext cx="3200400" cy="1097280"/>
          </a:xfrm>
          <a:prstGeom prst="roundRect">
            <a:avLst>
              <a:gd name="adj" fmla="val 6667"/>
            </a:avLst>
          </a:prstGeom>
          <a:solidFill>
            <a:srgbClr val="5B6B7A"/>
          </a:solidFill>
          <a:ln/>
        </p:spPr>
        <p:txBody>
          <a:bodyPr/>
          <a:lstStyle/>
          <a:p>
            <a:endParaRPr lang="en-GB"/>
          </a:p>
        </p:txBody>
      </p:sp>
      <p:sp>
        <p:nvSpPr>
          <p:cNvPr id="12" name="Text 7"/>
          <p:cNvSpPr/>
          <p:nvPr/>
        </p:nvSpPr>
        <p:spPr>
          <a:xfrm>
            <a:off x="8229600" y="3611880"/>
            <a:ext cx="2834640" cy="822960"/>
          </a:xfrm>
          <a:prstGeom prst="rect">
            <a:avLst/>
          </a:prstGeom>
          <a:noFill/>
          <a:ln/>
        </p:spPr>
        <p:txBody>
          <a:bodyPr wrap="square" rtlCol="0" anchor="ctr"/>
          <a:lstStyle/>
          <a:p>
            <a:pPr marL="0" indent="0">
              <a:buNone/>
            </a:pPr>
            <a:r>
              <a:rPr lang="en-US" sz="1800" b="1" dirty="0">
                <a:solidFill>
                  <a:srgbClr val="FFFFFF"/>
                </a:solidFill>
                <a:latin typeface="Poppins" pitchFamily="34" charset="0"/>
                <a:ea typeface="Poppins" pitchFamily="34" charset="-122"/>
                <a:cs typeface="Poppins" pitchFamily="34" charset="-120"/>
              </a:rPr>
              <a:t>Contract</a:t>
            </a:r>
            <a:endParaRPr lang="en-US" sz="1800" dirty="0"/>
          </a:p>
          <a:p>
            <a:pPr marL="0" indent="0">
              <a:buNone/>
            </a:pPr>
            <a:r>
              <a:rPr lang="en-US" sz="1000" i="1" dirty="0">
                <a:solidFill>
                  <a:srgbClr val="FFFFFF"/>
                </a:solidFill>
                <a:latin typeface="Poppins" pitchFamily="34" charset="0"/>
                <a:ea typeface="Poppins" pitchFamily="34" charset="-122"/>
                <a:cs typeface="Poppins" pitchFamily="34" charset="-120"/>
              </a:rPr>
              <a:t>e.g. O&amp;M Agreement, FM Contract</a:t>
            </a:r>
            <a:endParaRPr lang="en-US" sz="1800" dirty="0"/>
          </a:p>
        </p:txBody>
      </p:sp>
      <p:sp>
        <p:nvSpPr>
          <p:cNvPr id="13" name="Text 8"/>
          <p:cNvSpPr/>
          <p:nvPr/>
        </p:nvSpPr>
        <p:spPr>
          <a:xfrm>
            <a:off x="457200" y="4846320"/>
            <a:ext cx="4572000" cy="365760"/>
          </a:xfrm>
          <a:prstGeom prst="rect">
            <a:avLst/>
          </a:prstGeom>
          <a:noFill/>
          <a:ln/>
        </p:spPr>
        <p:txBody>
          <a:bodyPr wrap="square" rtlCol="0" anchor="ctr"/>
          <a:lstStyle/>
          <a:p>
            <a:pPr marL="0" indent="0">
              <a:buNone/>
            </a:pPr>
            <a:r>
              <a:rPr lang="en-US" sz="1300" b="1" dirty="0">
                <a:solidFill>
                  <a:srgbClr val="FF6600"/>
                </a:solidFill>
                <a:latin typeface="Poppins" pitchFamily="34" charset="0"/>
                <a:ea typeface="Poppins" pitchFamily="34" charset="-122"/>
                <a:cs typeface="Poppins" pitchFamily="34" charset="-120"/>
              </a:rPr>
              <a:t>Discussion prompts</a:t>
            </a:r>
            <a:endParaRPr lang="en-US" sz="1300" dirty="0"/>
          </a:p>
        </p:txBody>
      </p:sp>
      <p:sp>
        <p:nvSpPr>
          <p:cNvPr id="14" name="Text 9"/>
          <p:cNvSpPr/>
          <p:nvPr/>
        </p:nvSpPr>
        <p:spPr>
          <a:xfrm>
            <a:off x="457200" y="5212080"/>
            <a:ext cx="10972800" cy="1005840"/>
          </a:xfrm>
          <a:prstGeom prst="rect">
            <a:avLst/>
          </a:prstGeom>
          <a:noFill/>
          <a:ln/>
        </p:spPr>
        <p:txBody>
          <a:bodyPr wrap="square" rtlCol="0" anchor="ctr"/>
          <a:lstStyle/>
          <a:p>
            <a:pPr marL="342900" indent="-342900">
              <a:buSzPct val="100000"/>
              <a:buChar char="•"/>
            </a:pPr>
            <a:r>
              <a:rPr lang="en-US" sz="1200" dirty="0">
                <a:solidFill>
                  <a:srgbClr val="333333"/>
                </a:solidFill>
                <a:latin typeface="Poppins" pitchFamily="34" charset="0"/>
                <a:ea typeface="Poppins" pitchFamily="34" charset="-122"/>
                <a:cs typeface="Poppins" pitchFamily="34" charset="-120"/>
              </a:rPr>
              <a:t>Is this three-level hierarchy correct, or are there additional levels?</a:t>
            </a:r>
            <a:endParaRPr lang="en-US" sz="1200" dirty="0"/>
          </a:p>
          <a:p>
            <a:pPr marL="342900" indent="-342900">
              <a:buSzPct val="100000"/>
              <a:buChar char="•"/>
            </a:pPr>
            <a:r>
              <a:rPr lang="en-US" sz="1200" dirty="0">
                <a:solidFill>
                  <a:srgbClr val="333333"/>
                </a:solidFill>
                <a:latin typeface="Poppins" pitchFamily="34" charset="0"/>
                <a:ea typeface="Poppins" pitchFamily="34" charset="-122"/>
                <a:cs typeface="Poppins" pitchFamily="34" charset="-120"/>
              </a:rPr>
              <a:t>Are there contracts that span multiple sectors or assets?</a:t>
            </a:r>
            <a:endParaRPr lang="en-US" sz="1200" dirty="0"/>
          </a:p>
          <a:p>
            <a:pPr marL="342900" indent="-342900">
              <a:buSzPct val="100000"/>
              <a:buChar char="•"/>
            </a:pPr>
            <a:r>
              <a:rPr lang="en-US" sz="1200" dirty="0">
                <a:solidFill>
                  <a:srgbClr val="333333"/>
                </a:solidFill>
                <a:latin typeface="Poppins" pitchFamily="34" charset="0"/>
                <a:ea typeface="Poppins" pitchFamily="34" charset="-122"/>
                <a:cs typeface="Poppins" pitchFamily="34" charset="-120"/>
              </a:rPr>
              <a:t>How are shared services or group-level contracts categorised?</a:t>
            </a:r>
            <a:endParaRPr lang="en-US" sz="1200" dirty="0"/>
          </a:p>
        </p:txBody>
      </p:sp>
      <p:pic>
        <p:nvPicPr>
          <p:cNvPr id="15" name="Image 2" descr="/sessions/bold-pensive-galileo/workshop-gen/slide-smark.png">
            <a:extLst>
              <a:ext uri="{FF2B5EF4-FFF2-40B4-BE49-F238E27FC236}">
                <a16:creationId xmlns:a16="http://schemas.microsoft.com/office/drawing/2014/main" id="{D2751A62-BD09-43F4-E541-44FC09B7FD1E}"/>
              </a:ext>
            </a:extLst>
          </p:cNvPr>
          <p:cNvPicPr>
            <a:picLocks noChangeAspect="1"/>
          </p:cNvPicPr>
          <p:nvPr/>
        </p:nvPicPr>
        <p:blipFill>
          <a:blip r:embed="rId5"/>
          <a:stretch>
            <a:fillRect/>
          </a:stretch>
        </p:blipFill>
        <p:spPr>
          <a:xfrm>
            <a:off x="11622024" y="6291072"/>
            <a:ext cx="566928" cy="56692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pic>
        <p:nvPicPr>
          <p:cNvPr id="2" name="Image 0" descr="/sessions/bold-pensive-galileo/workshop-gen/slide-corner-pattern.png"/>
          <p:cNvPicPr>
            <a:picLocks noChangeAspect="1"/>
          </p:cNvPicPr>
          <p:nvPr/>
        </p:nvPicPr>
        <p:blipFill>
          <a:blip r:embed="rId3"/>
          <a:stretch>
            <a:fillRect/>
          </a:stretch>
        </p:blipFill>
        <p:spPr>
          <a:xfrm>
            <a:off x="9921240" y="-237744"/>
            <a:ext cx="2267712" cy="2002536"/>
          </a:xfrm>
          <a:prstGeom prst="rect">
            <a:avLst/>
          </a:prstGeom>
        </p:spPr>
      </p:pic>
      <p:sp>
        <p:nvSpPr>
          <p:cNvPr id="3" name="Text 0"/>
          <p:cNvSpPr/>
          <p:nvPr/>
        </p:nvSpPr>
        <p:spPr>
          <a:xfrm>
            <a:off x="457200" y="274320"/>
            <a:ext cx="9144000" cy="731520"/>
          </a:xfrm>
          <a:prstGeom prst="rect">
            <a:avLst/>
          </a:prstGeom>
          <a:noFill/>
          <a:ln/>
        </p:spPr>
        <p:txBody>
          <a:bodyPr wrap="square" lIns="0" tIns="0" rIns="0" bIns="0" rtlCol="0" anchor="ctr"/>
          <a:lstStyle/>
          <a:p>
            <a:pPr marL="0" indent="0">
              <a:buNone/>
            </a:pPr>
            <a:r>
              <a:rPr lang="en-US" sz="3600" b="1" dirty="0">
                <a:solidFill>
                  <a:srgbClr val="5B6B7A"/>
                </a:solidFill>
                <a:latin typeface="Poppins" pitchFamily="34" charset="0"/>
                <a:ea typeface="Poppins" pitchFamily="34" charset="-122"/>
                <a:cs typeface="Poppins" pitchFamily="34" charset="-120"/>
              </a:rPr>
              <a:t>Data sources and mapping</a:t>
            </a:r>
            <a:r>
              <a:rPr lang="en-US" sz="3600" b="1" dirty="0">
                <a:solidFill>
                  <a:srgbClr val="FF6600"/>
                </a:solidFill>
                <a:latin typeface="Poppins" pitchFamily="34" charset="0"/>
                <a:ea typeface="Poppins" pitchFamily="34" charset="-122"/>
                <a:cs typeface="Poppins" pitchFamily="34" charset="-120"/>
              </a:rPr>
              <a:t>.</a:t>
            </a:r>
            <a:endParaRPr lang="en-US" sz="3600" dirty="0"/>
          </a:p>
        </p:txBody>
      </p:sp>
      <p:pic>
        <p:nvPicPr>
          <p:cNvPr id="4" name="Image 1" descr="/sessions/bold-pensive-galileo/workshop-gen/slide-footer-rule.png"/>
          <p:cNvPicPr>
            <a:picLocks noChangeAspect="1"/>
          </p:cNvPicPr>
          <p:nvPr/>
        </p:nvPicPr>
        <p:blipFill>
          <a:blip r:embed="rId4"/>
          <a:stretch>
            <a:fillRect/>
          </a:stretch>
        </p:blipFill>
        <p:spPr>
          <a:xfrm>
            <a:off x="731520" y="6574536"/>
            <a:ext cx="10515600" cy="27432"/>
          </a:xfrm>
          <a:prstGeom prst="rect">
            <a:avLst/>
          </a:prstGeom>
        </p:spPr>
      </p:pic>
      <p:sp>
        <p:nvSpPr>
          <p:cNvPr id="6" name="Text 1"/>
          <p:cNvSpPr/>
          <p:nvPr/>
        </p:nvSpPr>
        <p:spPr>
          <a:xfrm>
            <a:off x="457200" y="1024128"/>
            <a:ext cx="9144000" cy="457200"/>
          </a:xfrm>
          <a:prstGeom prst="rect">
            <a:avLst/>
          </a:prstGeom>
          <a:noFill/>
          <a:ln/>
        </p:spPr>
        <p:txBody>
          <a:bodyPr wrap="square" rtlCol="0" anchor="ctr"/>
          <a:lstStyle/>
          <a:p>
            <a:pPr marL="0" indent="0">
              <a:buNone/>
            </a:pPr>
            <a:r>
              <a:rPr lang="en-US" sz="1400" i="1" dirty="0">
                <a:solidFill>
                  <a:srgbClr val="5B6B7A"/>
                </a:solidFill>
                <a:latin typeface="Poppins" pitchFamily="34" charset="0"/>
                <a:ea typeface="Poppins" pitchFamily="34" charset="-122"/>
                <a:cs typeface="Poppins" pitchFamily="34" charset="-120"/>
              </a:rPr>
              <a:t>Which systems hold the data we need, and how do we get it into Fabric?</a:t>
            </a:r>
            <a:endParaRPr lang="en-US" sz="1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691640"/>
          <a:ext cx="10515600" cy="1965960"/>
        </p:xfrm>
        <a:graphic>
          <a:graphicData uri="http://schemas.openxmlformats.org/drawingml/2006/table">
            <a:tbl>
              <a:tblPr/>
              <a:tblGrid>
                <a:gridCol w="228600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743200">
                  <a:extLst>
                    <a:ext uri="{9D8B030D-6E8A-4147-A177-3AD203B41FA5}">
                      <a16:colId xmlns:a16="http://schemas.microsoft.com/office/drawing/2014/main" val="20003"/>
                    </a:ext>
                  </a:extLst>
                </a:gridCol>
              </a:tblGrid>
              <a:tr h="457200">
                <a:tc>
                  <a:txBody>
                    <a:bodyPr/>
                    <a:lstStyle/>
                    <a:p>
                      <a:pPr marL="0" indent="0">
                        <a:buNone/>
                      </a:pPr>
                      <a:r>
                        <a:rPr lang="en-US" sz="1300" b="1" dirty="0">
                          <a:solidFill>
                            <a:srgbClr val="FFFFFF"/>
                          </a:solidFill>
                          <a:latin typeface="Poppins" pitchFamily="34" charset="0"/>
                          <a:ea typeface="Poppins" pitchFamily="34" charset="-122"/>
                          <a:cs typeface="Poppins" pitchFamily="34" charset="-120"/>
                        </a:rPr>
                        <a:t>Source System</a:t>
                      </a:r>
                      <a:endParaRPr lang="en-US" sz="1300" dirty="0">
                        <a:latin typeface="Poppins" charset="0"/>
                        <a:ea typeface="Poppins" charset="0"/>
                        <a:cs typeface="Poppins" charset="0"/>
                      </a:endParaRPr>
                    </a:p>
                  </a:txBody>
                  <a:tcPr marL="101600" marR="101600" marT="50800" marB="50800">
                    <a:lnL w="6350" cap="flat" cmpd="sng" algn="ctr">
                      <a:solidFill>
                        <a:srgbClr val="D0D6DC"/>
                      </a:solidFill>
                      <a:prstDash val="solid"/>
                      <a:round/>
                      <a:headEnd type="none" w="med" len="med"/>
                      <a:tailEnd type="none" w="med" len="med"/>
                    </a:lnL>
                    <a:lnR w="6350" cap="flat" cmpd="sng" algn="ctr">
                      <a:solidFill>
                        <a:srgbClr val="D0D6DC"/>
                      </a:solidFill>
                      <a:prstDash val="solid"/>
                      <a:round/>
                      <a:headEnd type="none" w="med" len="med"/>
                      <a:tailEnd type="none" w="med" len="med"/>
                    </a:lnR>
                    <a:lnT w="6350" cap="flat" cmpd="sng" algn="ctr">
                      <a:solidFill>
                        <a:srgbClr val="D0D6DC"/>
                      </a:solidFill>
                      <a:prstDash val="solid"/>
                      <a:round/>
                      <a:headEnd type="none" w="med" len="med"/>
                      <a:tailEnd type="none" w="med" len="med"/>
                    </a:lnT>
                    <a:lnB w="6350" cap="flat" cmpd="sng" algn="ctr">
                      <a:solidFill>
                        <a:srgbClr val="D0D6DC"/>
                      </a:solidFill>
                      <a:prstDash val="solid"/>
                      <a:round/>
                      <a:headEnd type="none" w="med" len="med"/>
                      <a:tailEnd type="none" w="med" len="med"/>
                    </a:lnB>
                    <a:solidFill>
                      <a:srgbClr val="1B2430"/>
                    </a:solidFill>
                  </a:tcPr>
                </a:tc>
                <a:tc>
                  <a:txBody>
                    <a:bodyPr/>
                    <a:lstStyle/>
                    <a:p>
                      <a:pPr marL="0" indent="0">
                        <a:buNone/>
                      </a:pPr>
                      <a:r>
                        <a:rPr lang="en-US" sz="1300" b="1" dirty="0">
                          <a:solidFill>
                            <a:srgbClr val="FFFFFF"/>
                          </a:solidFill>
                          <a:latin typeface="Poppins" pitchFamily="34" charset="0"/>
                          <a:ea typeface="Poppins" pitchFamily="34" charset="-122"/>
                          <a:cs typeface="Poppins" pitchFamily="34" charset="-120"/>
                        </a:rPr>
                        <a:t>Data Held</a:t>
                      </a:r>
                      <a:endParaRPr lang="en-US" sz="1300" dirty="0">
                        <a:latin typeface="Poppins" charset="0"/>
                        <a:ea typeface="Poppins" charset="0"/>
                        <a:cs typeface="Poppins" charset="0"/>
                      </a:endParaRPr>
                    </a:p>
                  </a:txBody>
                  <a:tcPr marL="101600" marR="101600" marT="50800" marB="50800">
                    <a:lnL w="6350" cap="flat" cmpd="sng" algn="ctr">
                      <a:solidFill>
                        <a:srgbClr val="D0D6DC"/>
                      </a:solidFill>
                      <a:prstDash val="solid"/>
                      <a:round/>
                      <a:headEnd type="none" w="med" len="med"/>
                      <a:tailEnd type="none" w="med" len="med"/>
                    </a:lnL>
                    <a:lnR w="6350" cap="flat" cmpd="sng" algn="ctr">
                      <a:solidFill>
                        <a:srgbClr val="D0D6DC"/>
                      </a:solidFill>
                      <a:prstDash val="solid"/>
                      <a:round/>
                      <a:headEnd type="none" w="med" len="med"/>
                      <a:tailEnd type="none" w="med" len="med"/>
                    </a:lnR>
                    <a:lnT w="6350" cap="flat" cmpd="sng" algn="ctr">
                      <a:solidFill>
                        <a:srgbClr val="D0D6DC"/>
                      </a:solidFill>
                      <a:prstDash val="solid"/>
                      <a:round/>
                      <a:headEnd type="none" w="med" len="med"/>
                      <a:tailEnd type="none" w="med" len="med"/>
                    </a:lnT>
                    <a:lnB w="6350" cap="flat" cmpd="sng" algn="ctr">
                      <a:solidFill>
                        <a:srgbClr val="D0D6DC"/>
                      </a:solidFill>
                      <a:prstDash val="solid"/>
                      <a:round/>
                      <a:headEnd type="none" w="med" len="med"/>
                      <a:tailEnd type="none" w="med" len="med"/>
                    </a:lnB>
                    <a:solidFill>
                      <a:srgbClr val="1B2430"/>
                    </a:solidFill>
                  </a:tcPr>
                </a:tc>
                <a:tc>
                  <a:txBody>
                    <a:bodyPr/>
                    <a:lstStyle/>
                    <a:p>
                      <a:pPr marL="0" indent="0">
                        <a:buNone/>
                      </a:pPr>
                      <a:r>
                        <a:rPr lang="en-US" sz="1300" b="1" dirty="0">
                          <a:solidFill>
                            <a:srgbClr val="FFFFFF"/>
                          </a:solidFill>
                          <a:latin typeface="Poppins" pitchFamily="34" charset="0"/>
                          <a:ea typeface="Poppins" pitchFamily="34" charset="-122"/>
                          <a:cs typeface="Poppins" pitchFamily="34" charset="-120"/>
                        </a:rPr>
                        <a:t>Access Method</a:t>
                      </a:r>
                      <a:endParaRPr lang="en-US" sz="1300" dirty="0">
                        <a:latin typeface="Poppins" charset="0"/>
                        <a:ea typeface="Poppins" charset="0"/>
                        <a:cs typeface="Poppins" charset="0"/>
                      </a:endParaRPr>
                    </a:p>
                  </a:txBody>
                  <a:tcPr marL="101600" marR="101600" marT="50800" marB="50800">
                    <a:lnL w="6350" cap="flat" cmpd="sng" algn="ctr">
                      <a:solidFill>
                        <a:srgbClr val="D0D6DC"/>
                      </a:solidFill>
                      <a:prstDash val="solid"/>
                      <a:round/>
                      <a:headEnd type="none" w="med" len="med"/>
                      <a:tailEnd type="none" w="med" len="med"/>
                    </a:lnL>
                    <a:lnR w="6350" cap="flat" cmpd="sng" algn="ctr">
                      <a:solidFill>
                        <a:srgbClr val="D0D6DC"/>
                      </a:solidFill>
                      <a:prstDash val="solid"/>
                      <a:round/>
                      <a:headEnd type="none" w="med" len="med"/>
                      <a:tailEnd type="none" w="med" len="med"/>
                    </a:lnR>
                    <a:lnT w="6350" cap="flat" cmpd="sng" algn="ctr">
                      <a:solidFill>
                        <a:srgbClr val="D0D6DC"/>
                      </a:solidFill>
                      <a:prstDash val="solid"/>
                      <a:round/>
                      <a:headEnd type="none" w="med" len="med"/>
                      <a:tailEnd type="none" w="med" len="med"/>
                    </a:lnT>
                    <a:lnB w="6350" cap="flat" cmpd="sng" algn="ctr">
                      <a:solidFill>
                        <a:srgbClr val="D0D6DC"/>
                      </a:solidFill>
                      <a:prstDash val="solid"/>
                      <a:round/>
                      <a:headEnd type="none" w="med" len="med"/>
                      <a:tailEnd type="none" w="med" len="med"/>
                    </a:lnB>
                    <a:solidFill>
                      <a:srgbClr val="1B2430"/>
                    </a:solidFill>
                  </a:tcPr>
                </a:tc>
                <a:tc>
                  <a:txBody>
                    <a:bodyPr/>
                    <a:lstStyle/>
                    <a:p>
                      <a:pPr marL="0" indent="0">
                        <a:buNone/>
                      </a:pPr>
                      <a:r>
                        <a:rPr lang="en-US" sz="1300" b="1" dirty="0">
                          <a:solidFill>
                            <a:srgbClr val="FFFFFF"/>
                          </a:solidFill>
                          <a:latin typeface="Poppins" pitchFamily="34" charset="0"/>
                          <a:ea typeface="Poppins" pitchFamily="34" charset="-122"/>
                          <a:cs typeface="Poppins" pitchFamily="34" charset="-120"/>
                        </a:rPr>
                        <a:t>Status / Gaps</a:t>
                      </a:r>
                      <a:endParaRPr lang="en-US" sz="1300" dirty="0">
                        <a:latin typeface="Poppins" charset="0"/>
                        <a:ea typeface="Poppins" charset="0"/>
                        <a:cs typeface="Poppins" charset="0"/>
                      </a:endParaRPr>
                    </a:p>
                  </a:txBody>
                  <a:tcPr marL="101600" marR="101600" marT="50800" marB="50800">
                    <a:lnL w="6350" cap="flat" cmpd="sng" algn="ctr">
                      <a:solidFill>
                        <a:srgbClr val="D0D6DC"/>
                      </a:solidFill>
                      <a:prstDash val="solid"/>
                      <a:round/>
                      <a:headEnd type="none" w="med" len="med"/>
                      <a:tailEnd type="none" w="med" len="med"/>
                    </a:lnL>
                    <a:lnR w="6350" cap="flat" cmpd="sng" algn="ctr">
                      <a:solidFill>
                        <a:srgbClr val="D0D6DC"/>
                      </a:solidFill>
                      <a:prstDash val="solid"/>
                      <a:round/>
                      <a:headEnd type="none" w="med" len="med"/>
                      <a:tailEnd type="none" w="med" len="med"/>
                    </a:lnR>
                    <a:lnT w="6350" cap="flat" cmpd="sng" algn="ctr">
                      <a:solidFill>
                        <a:srgbClr val="D0D6DC"/>
                      </a:solidFill>
                      <a:prstDash val="solid"/>
                      <a:round/>
                      <a:headEnd type="none" w="med" len="med"/>
                      <a:tailEnd type="none" w="med" len="med"/>
                    </a:lnT>
                    <a:lnB w="6350" cap="flat" cmpd="sng" algn="ctr">
                      <a:solidFill>
                        <a:srgbClr val="D0D6DC"/>
                      </a:solidFill>
                      <a:prstDash val="solid"/>
                      <a:round/>
                      <a:headEnd type="none" w="med" len="med"/>
                      <a:tailEnd type="none" w="med" len="med"/>
                    </a:lnB>
                    <a:solidFill>
                      <a:srgbClr val="1B2430"/>
                    </a:solidFill>
                  </a:tcPr>
                </a:tc>
                <a:extLst>
                  <a:ext uri="{0D108BD9-81ED-4DB2-BD59-A6C34878D82A}">
                    <a16:rowId xmlns:a16="http://schemas.microsoft.com/office/drawing/2014/main" val="10000"/>
                  </a:ext>
                </a:extLst>
              </a:tr>
              <a:tr h="502920">
                <a:tc>
                  <a:txBody>
                    <a:bodyPr/>
                    <a:lstStyle/>
                    <a:p>
                      <a:pPr marL="0" indent="0">
                        <a:buNone/>
                      </a:pPr>
                      <a:r>
                        <a:rPr lang="en-US" sz="1200" dirty="0">
                          <a:solidFill>
                            <a:srgbClr val="333333"/>
                          </a:solidFill>
                          <a:latin typeface="Poppins" pitchFamily="34" charset="0"/>
                          <a:ea typeface="Poppins" pitchFamily="34" charset="-122"/>
                          <a:cs typeface="Poppins" pitchFamily="34" charset="-120"/>
                        </a:rPr>
                        <a:t>Dataverse</a:t>
                      </a:r>
                      <a:endParaRPr lang="en-US" sz="1200" dirty="0">
                        <a:latin typeface="Poppins" charset="0"/>
                        <a:ea typeface="Poppins" charset="0"/>
                        <a:cs typeface="Poppins" charset="0"/>
                      </a:endParaRPr>
                    </a:p>
                  </a:txBody>
                  <a:tcPr marL="101600" marR="101600" marT="50800" marB="50800">
                    <a:lnL w="6350" cap="flat" cmpd="sng" algn="ctr">
                      <a:solidFill>
                        <a:srgbClr val="D0D6DC"/>
                      </a:solidFill>
                      <a:prstDash val="solid"/>
                      <a:round/>
                      <a:headEnd type="none" w="med" len="med"/>
                      <a:tailEnd type="none" w="med" len="med"/>
                    </a:lnL>
                    <a:lnR w="6350" cap="flat" cmpd="sng" algn="ctr">
                      <a:solidFill>
                        <a:srgbClr val="D0D6DC"/>
                      </a:solidFill>
                      <a:prstDash val="solid"/>
                      <a:round/>
                      <a:headEnd type="none" w="med" len="med"/>
                      <a:tailEnd type="none" w="med" len="med"/>
                    </a:lnR>
                    <a:lnT w="6350" cap="flat" cmpd="sng" algn="ctr">
                      <a:solidFill>
                        <a:srgbClr val="D0D6DC"/>
                      </a:solidFill>
                      <a:prstDash val="solid"/>
                      <a:round/>
                      <a:headEnd type="none" w="med" len="med"/>
                      <a:tailEnd type="none" w="med" len="med"/>
                    </a:lnT>
                    <a:lnB w="6350" cap="flat" cmpd="sng" algn="ctr">
                      <a:solidFill>
                        <a:srgbClr val="D0D6DC"/>
                      </a:solidFill>
                      <a:prstDash val="solid"/>
                      <a:round/>
                      <a:headEnd type="none" w="med" len="med"/>
                      <a:tailEnd type="none" w="med" len="med"/>
                    </a:lnB>
                  </a:tcPr>
                </a:tc>
                <a:tc>
                  <a:txBody>
                    <a:bodyPr/>
                    <a:lstStyle/>
                    <a:p>
                      <a:pPr marL="0" indent="0">
                        <a:buNone/>
                      </a:pPr>
                      <a:r>
                        <a:rPr lang="en-US" sz="1200" dirty="0">
                          <a:solidFill>
                            <a:srgbClr val="333333"/>
                          </a:solidFill>
                          <a:latin typeface="Poppins" pitchFamily="34" charset="0"/>
                          <a:ea typeface="Poppins" pitchFamily="34" charset="-122"/>
                          <a:cs typeface="Poppins" pitchFamily="34" charset="-120"/>
                        </a:rPr>
                        <a:t>Contracts, assets, sector hierarchy, warehouse data</a:t>
                      </a:r>
                      <a:endParaRPr lang="en-US" sz="1200" dirty="0">
                        <a:latin typeface="Poppins" charset="0"/>
                        <a:ea typeface="Poppins" charset="0"/>
                        <a:cs typeface="Poppins" charset="0"/>
                      </a:endParaRPr>
                    </a:p>
                  </a:txBody>
                  <a:tcPr marL="101600" marR="101600" marT="50800" marB="50800">
                    <a:lnL w="6350" cap="flat" cmpd="sng" algn="ctr">
                      <a:solidFill>
                        <a:srgbClr val="D0D6DC"/>
                      </a:solidFill>
                      <a:prstDash val="solid"/>
                      <a:round/>
                      <a:headEnd type="none" w="med" len="med"/>
                      <a:tailEnd type="none" w="med" len="med"/>
                    </a:lnL>
                    <a:lnR w="6350" cap="flat" cmpd="sng" algn="ctr">
                      <a:solidFill>
                        <a:srgbClr val="D0D6DC"/>
                      </a:solidFill>
                      <a:prstDash val="solid"/>
                      <a:round/>
                      <a:headEnd type="none" w="med" len="med"/>
                      <a:tailEnd type="none" w="med" len="med"/>
                    </a:lnR>
                    <a:lnT w="6350" cap="flat" cmpd="sng" algn="ctr">
                      <a:solidFill>
                        <a:srgbClr val="D0D6DC"/>
                      </a:solidFill>
                      <a:prstDash val="solid"/>
                      <a:round/>
                      <a:headEnd type="none" w="med" len="med"/>
                      <a:tailEnd type="none" w="med" len="med"/>
                    </a:lnT>
                    <a:lnB w="6350" cap="flat" cmpd="sng" algn="ctr">
                      <a:solidFill>
                        <a:srgbClr val="D0D6DC"/>
                      </a:solidFill>
                      <a:prstDash val="solid"/>
                      <a:round/>
                      <a:headEnd type="none" w="med" len="med"/>
                      <a:tailEnd type="none" w="med" len="med"/>
                    </a:lnB>
                  </a:tcPr>
                </a:tc>
                <a:tc>
                  <a:txBody>
                    <a:bodyPr/>
                    <a:lstStyle/>
                    <a:p>
                      <a:pPr marL="0" indent="0">
                        <a:buNone/>
                      </a:pPr>
                      <a:r>
                        <a:rPr lang="en-US" sz="1200" dirty="0">
                          <a:solidFill>
                            <a:srgbClr val="333333"/>
                          </a:solidFill>
                          <a:latin typeface="Poppins" pitchFamily="34" charset="0"/>
                          <a:ea typeface="Poppins" pitchFamily="34" charset="-122"/>
                          <a:cs typeface="Poppins" pitchFamily="34" charset="-120"/>
                        </a:rPr>
                        <a:t>API / Direct connector</a:t>
                      </a:r>
                      <a:endParaRPr lang="en-US" sz="1200" dirty="0">
                        <a:latin typeface="Poppins" charset="0"/>
                        <a:ea typeface="Poppins" charset="0"/>
                        <a:cs typeface="Poppins" charset="0"/>
                      </a:endParaRPr>
                    </a:p>
                  </a:txBody>
                  <a:tcPr marL="101600" marR="101600" marT="50800" marB="50800">
                    <a:lnL w="6350" cap="flat" cmpd="sng" algn="ctr">
                      <a:solidFill>
                        <a:srgbClr val="D0D6DC"/>
                      </a:solidFill>
                      <a:prstDash val="solid"/>
                      <a:round/>
                      <a:headEnd type="none" w="med" len="med"/>
                      <a:tailEnd type="none" w="med" len="med"/>
                    </a:lnL>
                    <a:lnR w="6350" cap="flat" cmpd="sng" algn="ctr">
                      <a:solidFill>
                        <a:srgbClr val="D0D6DC"/>
                      </a:solidFill>
                      <a:prstDash val="solid"/>
                      <a:round/>
                      <a:headEnd type="none" w="med" len="med"/>
                      <a:tailEnd type="none" w="med" len="med"/>
                    </a:lnR>
                    <a:lnT w="6350" cap="flat" cmpd="sng" algn="ctr">
                      <a:solidFill>
                        <a:srgbClr val="D0D6DC"/>
                      </a:solidFill>
                      <a:prstDash val="solid"/>
                      <a:round/>
                      <a:headEnd type="none" w="med" len="med"/>
                      <a:tailEnd type="none" w="med" len="med"/>
                    </a:lnT>
                    <a:lnB w="6350" cap="flat" cmpd="sng" algn="ctr">
                      <a:solidFill>
                        <a:srgbClr val="D0D6DC"/>
                      </a:solidFill>
                      <a:prstDash val="solid"/>
                      <a:round/>
                      <a:headEnd type="none" w="med" len="med"/>
                      <a:tailEnd type="none" w="med" len="med"/>
                    </a:lnB>
                  </a:tcPr>
                </a:tc>
                <a:tc>
                  <a:txBody>
                    <a:bodyPr/>
                    <a:lstStyle/>
                    <a:p>
                      <a:pPr marL="0" indent="0">
                        <a:buNone/>
                      </a:pPr>
                      <a:r>
                        <a:rPr lang="en-US" sz="1200" i="1" dirty="0">
                          <a:solidFill>
                            <a:srgbClr val="333333"/>
                          </a:solidFill>
                          <a:latin typeface="Poppins" pitchFamily="34" charset="0"/>
                          <a:ea typeface="Poppins" pitchFamily="34" charset="-122"/>
                          <a:cs typeface="Poppins" pitchFamily="34" charset="-120"/>
                        </a:rPr>
                        <a:t>To confirm in session</a:t>
                      </a:r>
                      <a:endParaRPr lang="en-US" sz="1200" dirty="0">
                        <a:latin typeface="Poppins" charset="0"/>
                        <a:ea typeface="Poppins" charset="0"/>
                        <a:cs typeface="Poppins" charset="0"/>
                      </a:endParaRPr>
                    </a:p>
                  </a:txBody>
                  <a:tcPr marL="101600" marR="101600" marT="50800" marB="50800">
                    <a:lnL w="6350" cap="flat" cmpd="sng" algn="ctr">
                      <a:solidFill>
                        <a:srgbClr val="D0D6DC"/>
                      </a:solidFill>
                      <a:prstDash val="solid"/>
                      <a:round/>
                      <a:headEnd type="none" w="med" len="med"/>
                      <a:tailEnd type="none" w="med" len="med"/>
                    </a:lnL>
                    <a:lnR w="6350" cap="flat" cmpd="sng" algn="ctr">
                      <a:solidFill>
                        <a:srgbClr val="D0D6DC"/>
                      </a:solidFill>
                      <a:prstDash val="solid"/>
                      <a:round/>
                      <a:headEnd type="none" w="med" len="med"/>
                      <a:tailEnd type="none" w="med" len="med"/>
                    </a:lnR>
                    <a:lnT w="6350" cap="flat" cmpd="sng" algn="ctr">
                      <a:solidFill>
                        <a:srgbClr val="D0D6DC"/>
                      </a:solidFill>
                      <a:prstDash val="solid"/>
                      <a:round/>
                      <a:headEnd type="none" w="med" len="med"/>
                      <a:tailEnd type="none" w="med" len="med"/>
                    </a:lnT>
                    <a:lnB w="6350" cap="flat" cmpd="sng" algn="ctr">
                      <a:solidFill>
                        <a:srgbClr val="D0D6DC"/>
                      </a:solidFill>
                      <a:prstDash val="solid"/>
                      <a:round/>
                      <a:headEnd type="none" w="med" len="med"/>
                      <a:tailEnd type="none" w="med" len="med"/>
                    </a:lnB>
                  </a:tcPr>
                </a:tc>
                <a:extLst>
                  <a:ext uri="{0D108BD9-81ED-4DB2-BD59-A6C34878D82A}">
                    <a16:rowId xmlns:a16="http://schemas.microsoft.com/office/drawing/2014/main" val="10001"/>
                  </a:ext>
                </a:extLst>
              </a:tr>
              <a:tr h="502920">
                <a:tc>
                  <a:txBody>
                    <a:bodyPr/>
                    <a:lstStyle/>
                    <a:p>
                      <a:pPr marL="0" indent="0">
                        <a:buNone/>
                      </a:pPr>
                      <a:r>
                        <a:rPr lang="en-US" sz="1200" dirty="0">
                          <a:solidFill>
                            <a:srgbClr val="333333"/>
                          </a:solidFill>
                          <a:latin typeface="Poppins" pitchFamily="34" charset="0"/>
                          <a:ea typeface="Poppins" pitchFamily="34" charset="-122"/>
                          <a:cs typeface="Poppins" pitchFamily="34" charset="-120"/>
                        </a:rPr>
                        <a:t>NetSuite</a:t>
                      </a:r>
                      <a:endParaRPr lang="en-US" sz="1200" dirty="0">
                        <a:latin typeface="Poppins" charset="0"/>
                        <a:ea typeface="Poppins" charset="0"/>
                        <a:cs typeface="Poppins" charset="0"/>
                      </a:endParaRPr>
                    </a:p>
                  </a:txBody>
                  <a:tcPr marL="101600" marR="101600" marT="50800" marB="50800">
                    <a:lnL w="6350" cap="flat" cmpd="sng" algn="ctr">
                      <a:solidFill>
                        <a:srgbClr val="D0D6DC"/>
                      </a:solidFill>
                      <a:prstDash val="solid"/>
                      <a:round/>
                      <a:headEnd type="none" w="med" len="med"/>
                      <a:tailEnd type="none" w="med" len="med"/>
                    </a:lnL>
                    <a:lnR w="6350" cap="flat" cmpd="sng" algn="ctr">
                      <a:solidFill>
                        <a:srgbClr val="D0D6DC"/>
                      </a:solidFill>
                      <a:prstDash val="solid"/>
                      <a:round/>
                      <a:headEnd type="none" w="med" len="med"/>
                      <a:tailEnd type="none" w="med" len="med"/>
                    </a:lnR>
                    <a:lnT w="6350" cap="flat" cmpd="sng" algn="ctr">
                      <a:solidFill>
                        <a:srgbClr val="D0D6DC"/>
                      </a:solidFill>
                      <a:prstDash val="solid"/>
                      <a:round/>
                      <a:headEnd type="none" w="med" len="med"/>
                      <a:tailEnd type="none" w="med" len="med"/>
                    </a:lnT>
                    <a:lnB w="6350" cap="flat" cmpd="sng" algn="ctr">
                      <a:solidFill>
                        <a:srgbClr val="D0D6DC"/>
                      </a:solidFill>
                      <a:prstDash val="solid"/>
                      <a:round/>
                      <a:headEnd type="none" w="med" len="med"/>
                      <a:tailEnd type="none" w="med" len="med"/>
                    </a:lnB>
                    <a:solidFill>
                      <a:srgbClr val="F7F9FB"/>
                    </a:solidFill>
                  </a:tcPr>
                </a:tc>
                <a:tc>
                  <a:txBody>
                    <a:bodyPr/>
                    <a:lstStyle/>
                    <a:p>
                      <a:pPr marL="0" indent="0">
                        <a:buNone/>
                      </a:pPr>
                      <a:r>
                        <a:rPr lang="en-US" sz="1200" dirty="0">
                          <a:solidFill>
                            <a:srgbClr val="333333"/>
                          </a:solidFill>
                          <a:latin typeface="Poppins" pitchFamily="34" charset="0"/>
                          <a:ea typeface="Poppins" pitchFamily="34" charset="-122"/>
                          <a:cs typeface="Poppins" pitchFamily="34" charset="-120"/>
                        </a:rPr>
                        <a:t>Revenue, invoicing, finance transactions</a:t>
                      </a:r>
                      <a:endParaRPr lang="en-US" sz="1200" dirty="0">
                        <a:latin typeface="Poppins" charset="0"/>
                        <a:ea typeface="Poppins" charset="0"/>
                        <a:cs typeface="Poppins" charset="0"/>
                      </a:endParaRPr>
                    </a:p>
                  </a:txBody>
                  <a:tcPr marL="101600" marR="101600" marT="50800" marB="50800">
                    <a:lnL w="6350" cap="flat" cmpd="sng" algn="ctr">
                      <a:solidFill>
                        <a:srgbClr val="D0D6DC"/>
                      </a:solidFill>
                      <a:prstDash val="solid"/>
                      <a:round/>
                      <a:headEnd type="none" w="med" len="med"/>
                      <a:tailEnd type="none" w="med" len="med"/>
                    </a:lnL>
                    <a:lnR w="6350" cap="flat" cmpd="sng" algn="ctr">
                      <a:solidFill>
                        <a:srgbClr val="D0D6DC"/>
                      </a:solidFill>
                      <a:prstDash val="solid"/>
                      <a:round/>
                      <a:headEnd type="none" w="med" len="med"/>
                      <a:tailEnd type="none" w="med" len="med"/>
                    </a:lnR>
                    <a:lnT w="6350" cap="flat" cmpd="sng" algn="ctr">
                      <a:solidFill>
                        <a:srgbClr val="D0D6DC"/>
                      </a:solidFill>
                      <a:prstDash val="solid"/>
                      <a:round/>
                      <a:headEnd type="none" w="med" len="med"/>
                      <a:tailEnd type="none" w="med" len="med"/>
                    </a:lnT>
                    <a:lnB w="6350" cap="flat" cmpd="sng" algn="ctr">
                      <a:solidFill>
                        <a:srgbClr val="D0D6DC"/>
                      </a:solidFill>
                      <a:prstDash val="solid"/>
                      <a:round/>
                      <a:headEnd type="none" w="med" len="med"/>
                      <a:tailEnd type="none" w="med" len="med"/>
                    </a:lnB>
                    <a:solidFill>
                      <a:srgbClr val="F7F9FB"/>
                    </a:solidFill>
                  </a:tcPr>
                </a:tc>
                <a:tc>
                  <a:txBody>
                    <a:bodyPr/>
                    <a:lstStyle/>
                    <a:p>
                      <a:pPr marL="0" indent="0">
                        <a:buNone/>
                      </a:pPr>
                      <a:r>
                        <a:rPr lang="en-US" sz="1200" dirty="0">
                          <a:solidFill>
                            <a:srgbClr val="333333"/>
                          </a:solidFill>
                          <a:latin typeface="Poppins" pitchFamily="34" charset="0"/>
                          <a:ea typeface="Poppins" pitchFamily="34" charset="-122"/>
                          <a:cs typeface="Poppins" pitchFamily="34" charset="-120"/>
                        </a:rPr>
                        <a:t>API / Extract</a:t>
                      </a:r>
                      <a:endParaRPr lang="en-US" sz="1200" dirty="0">
                        <a:latin typeface="Poppins" charset="0"/>
                        <a:ea typeface="Poppins" charset="0"/>
                        <a:cs typeface="Poppins" charset="0"/>
                      </a:endParaRPr>
                    </a:p>
                  </a:txBody>
                  <a:tcPr marL="101600" marR="101600" marT="50800" marB="50800">
                    <a:lnL w="6350" cap="flat" cmpd="sng" algn="ctr">
                      <a:solidFill>
                        <a:srgbClr val="D0D6DC"/>
                      </a:solidFill>
                      <a:prstDash val="solid"/>
                      <a:round/>
                      <a:headEnd type="none" w="med" len="med"/>
                      <a:tailEnd type="none" w="med" len="med"/>
                    </a:lnL>
                    <a:lnR w="6350" cap="flat" cmpd="sng" algn="ctr">
                      <a:solidFill>
                        <a:srgbClr val="D0D6DC"/>
                      </a:solidFill>
                      <a:prstDash val="solid"/>
                      <a:round/>
                      <a:headEnd type="none" w="med" len="med"/>
                      <a:tailEnd type="none" w="med" len="med"/>
                    </a:lnR>
                    <a:lnT w="6350" cap="flat" cmpd="sng" algn="ctr">
                      <a:solidFill>
                        <a:srgbClr val="D0D6DC"/>
                      </a:solidFill>
                      <a:prstDash val="solid"/>
                      <a:round/>
                      <a:headEnd type="none" w="med" len="med"/>
                      <a:tailEnd type="none" w="med" len="med"/>
                    </a:lnT>
                    <a:lnB w="6350" cap="flat" cmpd="sng" algn="ctr">
                      <a:solidFill>
                        <a:srgbClr val="D0D6DC"/>
                      </a:solidFill>
                      <a:prstDash val="solid"/>
                      <a:round/>
                      <a:headEnd type="none" w="med" len="med"/>
                      <a:tailEnd type="none" w="med" len="med"/>
                    </a:lnB>
                    <a:solidFill>
                      <a:srgbClr val="F7F9FB"/>
                    </a:solidFill>
                  </a:tcPr>
                </a:tc>
                <a:tc>
                  <a:txBody>
                    <a:bodyPr/>
                    <a:lstStyle/>
                    <a:p>
                      <a:pPr marL="0" indent="0">
                        <a:buNone/>
                      </a:pPr>
                      <a:r>
                        <a:rPr lang="en-US" sz="1200" i="1" dirty="0">
                          <a:solidFill>
                            <a:srgbClr val="333333"/>
                          </a:solidFill>
                          <a:latin typeface="Poppins" pitchFamily="34" charset="0"/>
                          <a:ea typeface="Poppins" pitchFamily="34" charset="-122"/>
                          <a:cs typeface="Poppins" pitchFamily="34" charset="-120"/>
                        </a:rPr>
                        <a:t>API access may be limited</a:t>
                      </a:r>
                      <a:endParaRPr lang="en-US" sz="1200" dirty="0">
                        <a:latin typeface="Poppins" charset="0"/>
                        <a:ea typeface="Poppins" charset="0"/>
                        <a:cs typeface="Poppins" charset="0"/>
                      </a:endParaRPr>
                    </a:p>
                  </a:txBody>
                  <a:tcPr marL="101600" marR="101600" marT="50800" marB="50800">
                    <a:lnL w="6350" cap="flat" cmpd="sng" algn="ctr">
                      <a:solidFill>
                        <a:srgbClr val="D0D6DC"/>
                      </a:solidFill>
                      <a:prstDash val="solid"/>
                      <a:round/>
                      <a:headEnd type="none" w="med" len="med"/>
                      <a:tailEnd type="none" w="med" len="med"/>
                    </a:lnL>
                    <a:lnR w="6350" cap="flat" cmpd="sng" algn="ctr">
                      <a:solidFill>
                        <a:srgbClr val="D0D6DC"/>
                      </a:solidFill>
                      <a:prstDash val="solid"/>
                      <a:round/>
                      <a:headEnd type="none" w="med" len="med"/>
                      <a:tailEnd type="none" w="med" len="med"/>
                    </a:lnR>
                    <a:lnT w="6350" cap="flat" cmpd="sng" algn="ctr">
                      <a:solidFill>
                        <a:srgbClr val="D0D6DC"/>
                      </a:solidFill>
                      <a:prstDash val="solid"/>
                      <a:round/>
                      <a:headEnd type="none" w="med" len="med"/>
                      <a:tailEnd type="none" w="med" len="med"/>
                    </a:lnT>
                    <a:lnB w="6350" cap="flat" cmpd="sng" algn="ctr">
                      <a:solidFill>
                        <a:srgbClr val="D0D6DC"/>
                      </a:solidFill>
                      <a:prstDash val="solid"/>
                      <a:round/>
                      <a:headEnd type="none" w="med" len="med"/>
                      <a:tailEnd type="none" w="med" len="med"/>
                    </a:lnB>
                    <a:solidFill>
                      <a:srgbClr val="F7F9FB"/>
                    </a:solidFill>
                  </a:tcPr>
                </a:tc>
                <a:extLst>
                  <a:ext uri="{0D108BD9-81ED-4DB2-BD59-A6C34878D82A}">
                    <a16:rowId xmlns:a16="http://schemas.microsoft.com/office/drawing/2014/main" val="10002"/>
                  </a:ext>
                </a:extLst>
              </a:tr>
              <a:tr h="502920">
                <a:tc>
                  <a:txBody>
                    <a:bodyPr/>
                    <a:lstStyle/>
                    <a:p>
                      <a:pPr marL="0" indent="0">
                        <a:buNone/>
                      </a:pPr>
                      <a:r>
                        <a:rPr lang="en-US" sz="1200" dirty="0">
                          <a:solidFill>
                            <a:srgbClr val="333333"/>
                          </a:solidFill>
                          <a:latin typeface="Poppins" pitchFamily="34" charset="0"/>
                          <a:ea typeface="Poppins" pitchFamily="34" charset="-122"/>
                          <a:cs typeface="Poppins" pitchFamily="34" charset="-120"/>
                        </a:rPr>
                        <a:t>Excel / Spreadsheets</a:t>
                      </a:r>
                      <a:endParaRPr lang="en-US" sz="1200" dirty="0">
                        <a:latin typeface="Poppins" charset="0"/>
                        <a:ea typeface="Poppins" charset="0"/>
                        <a:cs typeface="Poppins" charset="0"/>
                      </a:endParaRPr>
                    </a:p>
                  </a:txBody>
                  <a:tcPr marL="101600" marR="101600" marT="50800" marB="50800">
                    <a:lnL w="6350" cap="flat" cmpd="sng" algn="ctr">
                      <a:solidFill>
                        <a:srgbClr val="D0D6DC"/>
                      </a:solidFill>
                      <a:prstDash val="solid"/>
                      <a:round/>
                      <a:headEnd type="none" w="med" len="med"/>
                      <a:tailEnd type="none" w="med" len="med"/>
                    </a:lnL>
                    <a:lnR w="6350" cap="flat" cmpd="sng" algn="ctr">
                      <a:solidFill>
                        <a:srgbClr val="D0D6DC"/>
                      </a:solidFill>
                      <a:prstDash val="solid"/>
                      <a:round/>
                      <a:headEnd type="none" w="med" len="med"/>
                      <a:tailEnd type="none" w="med" len="med"/>
                    </a:lnR>
                    <a:lnT w="6350" cap="flat" cmpd="sng" algn="ctr">
                      <a:solidFill>
                        <a:srgbClr val="D0D6DC"/>
                      </a:solidFill>
                      <a:prstDash val="solid"/>
                      <a:round/>
                      <a:headEnd type="none" w="med" len="med"/>
                      <a:tailEnd type="none" w="med" len="med"/>
                    </a:lnT>
                    <a:lnB w="6350" cap="flat" cmpd="sng" algn="ctr">
                      <a:solidFill>
                        <a:srgbClr val="D0D6DC"/>
                      </a:solidFill>
                      <a:prstDash val="solid"/>
                      <a:round/>
                      <a:headEnd type="none" w="med" len="med"/>
                      <a:tailEnd type="none" w="med" len="med"/>
                    </a:lnB>
                  </a:tcPr>
                </a:tc>
                <a:tc>
                  <a:txBody>
                    <a:bodyPr/>
                    <a:lstStyle/>
                    <a:p>
                      <a:pPr marL="0" indent="0">
                        <a:buNone/>
                      </a:pPr>
                      <a:r>
                        <a:rPr lang="en-US" sz="1200" dirty="0">
                          <a:solidFill>
                            <a:srgbClr val="333333"/>
                          </a:solidFill>
                          <a:latin typeface="Poppins" pitchFamily="34" charset="0"/>
                          <a:ea typeface="Poppins" pitchFamily="34" charset="-122"/>
                          <a:cs typeface="Poppins" pitchFamily="34" charset="-120"/>
                        </a:rPr>
                        <a:t>Time tracking, cost data, manual calculations</a:t>
                      </a:r>
                      <a:endParaRPr lang="en-US" sz="1200" dirty="0">
                        <a:latin typeface="Poppins" charset="0"/>
                        <a:ea typeface="Poppins" charset="0"/>
                        <a:cs typeface="Poppins" charset="0"/>
                      </a:endParaRPr>
                    </a:p>
                  </a:txBody>
                  <a:tcPr marL="101600" marR="101600" marT="50800" marB="50800">
                    <a:lnL w="6350" cap="flat" cmpd="sng" algn="ctr">
                      <a:solidFill>
                        <a:srgbClr val="D0D6DC"/>
                      </a:solidFill>
                      <a:prstDash val="solid"/>
                      <a:round/>
                      <a:headEnd type="none" w="med" len="med"/>
                      <a:tailEnd type="none" w="med" len="med"/>
                    </a:lnL>
                    <a:lnR w="6350" cap="flat" cmpd="sng" algn="ctr">
                      <a:solidFill>
                        <a:srgbClr val="D0D6DC"/>
                      </a:solidFill>
                      <a:prstDash val="solid"/>
                      <a:round/>
                      <a:headEnd type="none" w="med" len="med"/>
                      <a:tailEnd type="none" w="med" len="med"/>
                    </a:lnR>
                    <a:lnT w="6350" cap="flat" cmpd="sng" algn="ctr">
                      <a:solidFill>
                        <a:srgbClr val="D0D6DC"/>
                      </a:solidFill>
                      <a:prstDash val="solid"/>
                      <a:round/>
                      <a:headEnd type="none" w="med" len="med"/>
                      <a:tailEnd type="none" w="med" len="med"/>
                    </a:lnT>
                    <a:lnB w="6350" cap="flat" cmpd="sng" algn="ctr">
                      <a:solidFill>
                        <a:srgbClr val="D0D6DC"/>
                      </a:solidFill>
                      <a:prstDash val="solid"/>
                      <a:round/>
                      <a:headEnd type="none" w="med" len="med"/>
                      <a:tailEnd type="none" w="med" len="med"/>
                    </a:lnB>
                  </a:tcPr>
                </a:tc>
                <a:tc>
                  <a:txBody>
                    <a:bodyPr/>
                    <a:lstStyle/>
                    <a:p>
                      <a:pPr marL="0" indent="0">
                        <a:buNone/>
                      </a:pPr>
                      <a:r>
                        <a:rPr lang="en-US" sz="1200" dirty="0">
                          <a:solidFill>
                            <a:srgbClr val="333333"/>
                          </a:solidFill>
                          <a:latin typeface="Poppins" pitchFamily="34" charset="0"/>
                          <a:ea typeface="Poppins" pitchFamily="34" charset="-122"/>
                          <a:cs typeface="Poppins" pitchFamily="34" charset="-120"/>
                        </a:rPr>
                        <a:t>File export / upload</a:t>
                      </a:r>
                      <a:endParaRPr lang="en-US" sz="1200" dirty="0">
                        <a:latin typeface="Poppins" charset="0"/>
                        <a:ea typeface="Poppins" charset="0"/>
                        <a:cs typeface="Poppins" charset="0"/>
                      </a:endParaRPr>
                    </a:p>
                  </a:txBody>
                  <a:tcPr marL="101600" marR="101600" marT="50800" marB="50800">
                    <a:lnL w="6350" cap="flat" cmpd="sng" algn="ctr">
                      <a:solidFill>
                        <a:srgbClr val="D0D6DC"/>
                      </a:solidFill>
                      <a:prstDash val="solid"/>
                      <a:round/>
                      <a:headEnd type="none" w="med" len="med"/>
                      <a:tailEnd type="none" w="med" len="med"/>
                    </a:lnL>
                    <a:lnR w="6350" cap="flat" cmpd="sng" algn="ctr">
                      <a:solidFill>
                        <a:srgbClr val="D0D6DC"/>
                      </a:solidFill>
                      <a:prstDash val="solid"/>
                      <a:round/>
                      <a:headEnd type="none" w="med" len="med"/>
                      <a:tailEnd type="none" w="med" len="med"/>
                    </a:lnR>
                    <a:lnT w="6350" cap="flat" cmpd="sng" algn="ctr">
                      <a:solidFill>
                        <a:srgbClr val="D0D6DC"/>
                      </a:solidFill>
                      <a:prstDash val="solid"/>
                      <a:round/>
                      <a:headEnd type="none" w="med" len="med"/>
                      <a:tailEnd type="none" w="med" len="med"/>
                    </a:lnT>
                    <a:lnB w="6350" cap="flat" cmpd="sng" algn="ctr">
                      <a:solidFill>
                        <a:srgbClr val="D0D6DC"/>
                      </a:solidFill>
                      <a:prstDash val="solid"/>
                      <a:round/>
                      <a:headEnd type="none" w="med" len="med"/>
                      <a:tailEnd type="none" w="med" len="med"/>
                    </a:lnB>
                  </a:tcPr>
                </a:tc>
                <a:tc>
                  <a:txBody>
                    <a:bodyPr/>
                    <a:lstStyle/>
                    <a:p>
                      <a:pPr marL="0" indent="0">
                        <a:buNone/>
                      </a:pPr>
                      <a:r>
                        <a:rPr lang="en-US" sz="1200" i="1" dirty="0">
                          <a:solidFill>
                            <a:srgbClr val="333333"/>
                          </a:solidFill>
                          <a:latin typeface="Poppins" pitchFamily="34" charset="0"/>
                          <a:ea typeface="Poppins" pitchFamily="34" charset="-122"/>
                          <a:cs typeface="Poppins" pitchFamily="34" charset="-120"/>
                        </a:rPr>
                        <a:t>Format varies, needs standardisation</a:t>
                      </a:r>
                      <a:endParaRPr lang="en-US" sz="1200" dirty="0">
                        <a:latin typeface="Poppins" charset="0"/>
                        <a:ea typeface="Poppins" charset="0"/>
                        <a:cs typeface="Poppins" charset="0"/>
                      </a:endParaRPr>
                    </a:p>
                  </a:txBody>
                  <a:tcPr marL="101600" marR="101600" marT="50800" marB="50800">
                    <a:lnL w="6350" cap="flat" cmpd="sng" algn="ctr">
                      <a:solidFill>
                        <a:srgbClr val="D0D6DC"/>
                      </a:solidFill>
                      <a:prstDash val="solid"/>
                      <a:round/>
                      <a:headEnd type="none" w="med" len="med"/>
                      <a:tailEnd type="none" w="med" len="med"/>
                    </a:lnL>
                    <a:lnR w="6350" cap="flat" cmpd="sng" algn="ctr">
                      <a:solidFill>
                        <a:srgbClr val="D0D6DC"/>
                      </a:solidFill>
                      <a:prstDash val="solid"/>
                      <a:round/>
                      <a:headEnd type="none" w="med" len="med"/>
                      <a:tailEnd type="none" w="med" len="med"/>
                    </a:lnR>
                    <a:lnT w="6350" cap="flat" cmpd="sng" algn="ctr">
                      <a:solidFill>
                        <a:srgbClr val="D0D6DC"/>
                      </a:solidFill>
                      <a:prstDash val="solid"/>
                      <a:round/>
                      <a:headEnd type="none" w="med" len="med"/>
                      <a:tailEnd type="none" w="med" len="med"/>
                    </a:lnT>
                    <a:lnB w="6350" cap="flat" cmpd="sng" algn="ctr">
                      <a:solidFill>
                        <a:srgbClr val="D0D6DC"/>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8" name="Text 2"/>
          <p:cNvSpPr/>
          <p:nvPr/>
        </p:nvSpPr>
        <p:spPr>
          <a:xfrm>
            <a:off x="457200" y="3977640"/>
            <a:ext cx="4572000" cy="365760"/>
          </a:xfrm>
          <a:prstGeom prst="rect">
            <a:avLst/>
          </a:prstGeom>
          <a:noFill/>
          <a:ln/>
        </p:spPr>
        <p:txBody>
          <a:bodyPr wrap="square" rtlCol="0" anchor="ctr"/>
          <a:lstStyle/>
          <a:p>
            <a:pPr marL="0" indent="0">
              <a:buNone/>
            </a:pPr>
            <a:r>
              <a:rPr lang="en-US" sz="1300" b="1" dirty="0">
                <a:solidFill>
                  <a:srgbClr val="FF6600"/>
                </a:solidFill>
                <a:latin typeface="Poppins" pitchFamily="34" charset="0"/>
                <a:ea typeface="Poppins" pitchFamily="34" charset="-122"/>
                <a:cs typeface="Poppins" pitchFamily="34" charset="-120"/>
              </a:rPr>
              <a:t>Key questions</a:t>
            </a:r>
            <a:endParaRPr lang="en-US" sz="1300" dirty="0"/>
          </a:p>
        </p:txBody>
      </p:sp>
      <p:sp>
        <p:nvSpPr>
          <p:cNvPr id="9" name="Text 3"/>
          <p:cNvSpPr/>
          <p:nvPr/>
        </p:nvSpPr>
        <p:spPr>
          <a:xfrm>
            <a:off x="457200" y="4114800"/>
            <a:ext cx="10972800" cy="1645920"/>
          </a:xfrm>
          <a:prstGeom prst="rect">
            <a:avLst/>
          </a:prstGeom>
          <a:noFill/>
          <a:ln/>
        </p:spPr>
        <p:txBody>
          <a:bodyPr wrap="square" rtlCol="0" anchor="ctr"/>
          <a:lstStyle/>
          <a:p>
            <a:pPr marL="342900" indent="-342900">
              <a:buSzPct val="100000"/>
              <a:buChar char="•"/>
            </a:pPr>
            <a:r>
              <a:rPr lang="en-US" sz="1200" dirty="0">
                <a:solidFill>
                  <a:srgbClr val="333333"/>
                </a:solidFill>
                <a:latin typeface="Poppins" pitchFamily="34" charset="0"/>
                <a:ea typeface="Poppins" pitchFamily="34" charset="-122"/>
                <a:cs typeface="Poppins" pitchFamily="34" charset="-120"/>
              </a:rPr>
              <a:t>Can we get a live connector to Dataverse, or will we need scheduled extracts?</a:t>
            </a:r>
            <a:endParaRPr lang="en-US" sz="1200" dirty="0"/>
          </a:p>
          <a:p>
            <a:pPr marL="342900" indent="-342900">
              <a:buSzPct val="100000"/>
              <a:buChar char="•"/>
            </a:pPr>
            <a:r>
              <a:rPr lang="en-US" sz="1200" dirty="0">
                <a:solidFill>
                  <a:srgbClr val="333333"/>
                </a:solidFill>
                <a:latin typeface="Poppins" pitchFamily="34" charset="0"/>
                <a:ea typeface="Poppins" pitchFamily="34" charset="-122"/>
                <a:cs typeface="Poppins" pitchFamily="34" charset="-120"/>
              </a:rPr>
              <a:t>For NetSuite, is there an existing report or saved search we can export from?</a:t>
            </a:r>
            <a:endParaRPr lang="en-US" sz="1200" dirty="0"/>
          </a:p>
          <a:p>
            <a:pPr marL="342900" indent="-342900">
              <a:buSzPct val="100000"/>
              <a:buChar char="•"/>
            </a:pPr>
            <a:r>
              <a:rPr lang="en-US" sz="1200" dirty="0">
                <a:solidFill>
                  <a:srgbClr val="333333"/>
                </a:solidFill>
                <a:latin typeface="Poppins" pitchFamily="34" charset="0"/>
                <a:ea typeface="Poppins" pitchFamily="34" charset="-122"/>
                <a:cs typeface="Poppins" pitchFamily="34" charset="-120"/>
              </a:rPr>
              <a:t>Which fields are the common keys across systems (contract ID, asset ID)?</a:t>
            </a:r>
            <a:endParaRPr lang="en-US" sz="1200" dirty="0"/>
          </a:p>
          <a:p>
            <a:pPr marL="342900" indent="-342900">
              <a:buSzPct val="100000"/>
              <a:buChar char="•"/>
            </a:pPr>
            <a:r>
              <a:rPr lang="en-US" sz="1200" dirty="0">
                <a:solidFill>
                  <a:srgbClr val="333333"/>
                </a:solidFill>
                <a:latin typeface="Poppins" pitchFamily="34" charset="0"/>
                <a:ea typeface="Poppins" pitchFamily="34" charset="-122"/>
                <a:cs typeface="Poppins" pitchFamily="34" charset="-120"/>
              </a:rPr>
              <a:t>What are the known data quality issues we should plan around?</a:t>
            </a:r>
            <a:endParaRPr lang="en-US" sz="1200" dirty="0"/>
          </a:p>
        </p:txBody>
      </p:sp>
      <p:sp>
        <p:nvSpPr>
          <p:cNvPr id="10" name="Shape 4"/>
          <p:cNvSpPr/>
          <p:nvPr/>
        </p:nvSpPr>
        <p:spPr>
          <a:xfrm>
            <a:off x="457200" y="5669280"/>
            <a:ext cx="10515600" cy="548640"/>
          </a:xfrm>
          <a:prstGeom prst="roundRect">
            <a:avLst>
              <a:gd name="adj" fmla="val 8333"/>
            </a:avLst>
          </a:prstGeom>
          <a:solidFill>
            <a:srgbClr val="FF6600"/>
          </a:solidFill>
          <a:ln/>
        </p:spPr>
        <p:txBody>
          <a:bodyPr/>
          <a:lstStyle/>
          <a:p>
            <a:endParaRPr lang="en-GB"/>
          </a:p>
        </p:txBody>
      </p:sp>
      <p:sp>
        <p:nvSpPr>
          <p:cNvPr id="11" name="Text 5"/>
          <p:cNvSpPr/>
          <p:nvPr/>
        </p:nvSpPr>
        <p:spPr>
          <a:xfrm>
            <a:off x="640080" y="5669280"/>
            <a:ext cx="10149840" cy="548640"/>
          </a:xfrm>
          <a:prstGeom prst="rect">
            <a:avLst/>
          </a:prstGeom>
          <a:noFill/>
          <a:ln/>
        </p:spPr>
        <p:txBody>
          <a:bodyPr wrap="square" rtlCol="0" anchor="ctr"/>
          <a:lstStyle/>
          <a:p>
            <a:pPr marL="0" indent="0">
              <a:buNone/>
            </a:pPr>
            <a:r>
              <a:rPr lang="en-US" sz="1300" b="1" dirty="0">
                <a:solidFill>
                  <a:srgbClr val="FFFFFF"/>
                </a:solidFill>
                <a:latin typeface="Poppins" pitchFamily="34" charset="0"/>
                <a:ea typeface="Poppins" pitchFamily="34" charset="-122"/>
                <a:cs typeface="Poppins" pitchFamily="34" charset="-120"/>
              </a:rPr>
              <a:t>Data access and data quality are the biggest risks. Let us surface them now.</a:t>
            </a:r>
            <a:endParaRPr lang="en-US" sz="1300" dirty="0"/>
          </a:p>
        </p:txBody>
      </p:sp>
      <p:pic>
        <p:nvPicPr>
          <p:cNvPr id="12" name="Image 2" descr="/sessions/bold-pensive-galileo/workshop-gen/slide-smark.png">
            <a:extLst>
              <a:ext uri="{FF2B5EF4-FFF2-40B4-BE49-F238E27FC236}">
                <a16:creationId xmlns:a16="http://schemas.microsoft.com/office/drawing/2014/main" id="{C6D71670-EF3B-6BC1-4447-402260D3F988}"/>
              </a:ext>
            </a:extLst>
          </p:cNvPr>
          <p:cNvPicPr>
            <a:picLocks noChangeAspect="1"/>
          </p:cNvPicPr>
          <p:nvPr/>
        </p:nvPicPr>
        <p:blipFill>
          <a:blip r:embed="rId5"/>
          <a:stretch>
            <a:fillRect/>
          </a:stretch>
        </p:blipFill>
        <p:spPr>
          <a:xfrm>
            <a:off x="11622024" y="6291072"/>
            <a:ext cx="566928" cy="56692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pic>
        <p:nvPicPr>
          <p:cNvPr id="2" name="Image 0" descr="/sessions/bold-pensive-galileo/workshop-gen/slide-corner-pattern.png"/>
          <p:cNvPicPr>
            <a:picLocks noChangeAspect="1"/>
          </p:cNvPicPr>
          <p:nvPr/>
        </p:nvPicPr>
        <p:blipFill>
          <a:blip r:embed="rId3"/>
          <a:stretch>
            <a:fillRect/>
          </a:stretch>
        </p:blipFill>
        <p:spPr>
          <a:xfrm>
            <a:off x="9921240" y="-237744"/>
            <a:ext cx="2267712" cy="2002536"/>
          </a:xfrm>
          <a:prstGeom prst="rect">
            <a:avLst/>
          </a:prstGeom>
        </p:spPr>
      </p:pic>
      <p:sp>
        <p:nvSpPr>
          <p:cNvPr id="3" name="Text 0"/>
          <p:cNvSpPr/>
          <p:nvPr/>
        </p:nvSpPr>
        <p:spPr>
          <a:xfrm>
            <a:off x="457200" y="274320"/>
            <a:ext cx="9144000" cy="731520"/>
          </a:xfrm>
          <a:prstGeom prst="rect">
            <a:avLst/>
          </a:prstGeom>
          <a:noFill/>
          <a:ln/>
        </p:spPr>
        <p:txBody>
          <a:bodyPr wrap="square" lIns="0" tIns="0" rIns="0" bIns="0" rtlCol="0" anchor="ctr"/>
          <a:lstStyle/>
          <a:p>
            <a:pPr marL="0" indent="0">
              <a:buNone/>
            </a:pPr>
            <a:r>
              <a:rPr lang="en-US" sz="3600" b="1" dirty="0">
                <a:solidFill>
                  <a:srgbClr val="5B6B7A"/>
                </a:solidFill>
                <a:latin typeface="Poppins" pitchFamily="34" charset="0"/>
                <a:ea typeface="Poppins" pitchFamily="34" charset="-122"/>
                <a:cs typeface="Poppins" pitchFamily="34" charset="-120"/>
              </a:rPr>
              <a:t>Report design and users</a:t>
            </a:r>
            <a:r>
              <a:rPr lang="en-US" sz="3600" b="1" dirty="0">
                <a:solidFill>
                  <a:srgbClr val="FF6600"/>
                </a:solidFill>
                <a:latin typeface="Poppins" pitchFamily="34" charset="0"/>
                <a:ea typeface="Poppins" pitchFamily="34" charset="-122"/>
                <a:cs typeface="Poppins" pitchFamily="34" charset="-120"/>
              </a:rPr>
              <a:t>.</a:t>
            </a:r>
            <a:endParaRPr lang="en-US" sz="3600" dirty="0"/>
          </a:p>
        </p:txBody>
      </p:sp>
      <p:pic>
        <p:nvPicPr>
          <p:cNvPr id="4" name="Image 1" descr="/sessions/bold-pensive-galileo/workshop-gen/slide-footer-rule.png"/>
          <p:cNvPicPr>
            <a:picLocks noChangeAspect="1"/>
          </p:cNvPicPr>
          <p:nvPr/>
        </p:nvPicPr>
        <p:blipFill>
          <a:blip r:embed="rId4"/>
          <a:stretch>
            <a:fillRect/>
          </a:stretch>
        </p:blipFill>
        <p:spPr>
          <a:xfrm>
            <a:off x="731520" y="6574536"/>
            <a:ext cx="10515600" cy="27432"/>
          </a:xfrm>
          <a:prstGeom prst="rect">
            <a:avLst/>
          </a:prstGeom>
        </p:spPr>
      </p:pic>
      <p:sp>
        <p:nvSpPr>
          <p:cNvPr id="6" name="Text 1"/>
          <p:cNvSpPr/>
          <p:nvPr/>
        </p:nvSpPr>
        <p:spPr>
          <a:xfrm>
            <a:off x="457200" y="1024128"/>
            <a:ext cx="9144000" cy="457200"/>
          </a:xfrm>
          <a:prstGeom prst="rect">
            <a:avLst/>
          </a:prstGeom>
          <a:noFill/>
          <a:ln/>
        </p:spPr>
        <p:txBody>
          <a:bodyPr wrap="square" rtlCol="0" anchor="ctr"/>
          <a:lstStyle/>
          <a:p>
            <a:pPr marL="0" indent="0">
              <a:buNone/>
            </a:pPr>
            <a:r>
              <a:rPr lang="en-US" sz="1400" i="1" dirty="0">
                <a:solidFill>
                  <a:srgbClr val="5B6B7A"/>
                </a:solidFill>
                <a:latin typeface="Poppins" pitchFamily="34" charset="0"/>
                <a:ea typeface="Poppins" pitchFamily="34" charset="-122"/>
                <a:cs typeface="Poppins" pitchFamily="34" charset="-120"/>
              </a:rPr>
              <a:t>Who will use this report, how often, and what decisions does it support?</a:t>
            </a:r>
            <a:endParaRPr lang="en-US" sz="1400" dirty="0"/>
          </a:p>
        </p:txBody>
      </p:sp>
      <p:sp>
        <p:nvSpPr>
          <p:cNvPr id="7" name="Shape 2"/>
          <p:cNvSpPr/>
          <p:nvPr/>
        </p:nvSpPr>
        <p:spPr>
          <a:xfrm>
            <a:off x="457200" y="1691640"/>
            <a:ext cx="5303520" cy="3657600"/>
          </a:xfrm>
          <a:prstGeom prst="roundRect">
            <a:avLst>
              <a:gd name="adj" fmla="val 2000"/>
            </a:avLst>
          </a:prstGeom>
          <a:solidFill>
            <a:srgbClr val="F7F9FB"/>
          </a:solidFill>
          <a:ln w="12700">
            <a:solidFill>
              <a:srgbClr val="D0D6DC"/>
            </a:solidFill>
            <a:prstDash val="solid"/>
          </a:ln>
        </p:spPr>
        <p:txBody>
          <a:bodyPr/>
          <a:lstStyle/>
          <a:p>
            <a:endParaRPr lang="en-GB"/>
          </a:p>
        </p:txBody>
      </p:sp>
      <p:sp>
        <p:nvSpPr>
          <p:cNvPr id="8" name="Text 3"/>
          <p:cNvSpPr/>
          <p:nvPr/>
        </p:nvSpPr>
        <p:spPr>
          <a:xfrm>
            <a:off x="457200" y="1806558"/>
            <a:ext cx="5303520" cy="502920"/>
          </a:xfrm>
          <a:prstGeom prst="rect">
            <a:avLst/>
          </a:prstGeom>
          <a:noFill/>
          <a:ln/>
        </p:spPr>
        <p:txBody>
          <a:bodyPr wrap="square" rtlCol="0" anchor="ctr"/>
          <a:lstStyle/>
          <a:p>
            <a:pPr marL="0" indent="0" algn="ctr">
              <a:buNone/>
            </a:pPr>
            <a:r>
              <a:rPr lang="en-US" sz="1500" b="1" dirty="0">
                <a:solidFill>
                  <a:srgbClr val="1B2430"/>
                </a:solidFill>
                <a:latin typeface="Poppins" pitchFamily="34" charset="0"/>
                <a:ea typeface="Poppins" pitchFamily="34" charset="-122"/>
                <a:cs typeface="Poppins" pitchFamily="34" charset="-120"/>
              </a:rPr>
              <a:t>Audience and usage</a:t>
            </a:r>
            <a:endParaRPr lang="en-US" sz="1500" dirty="0"/>
          </a:p>
        </p:txBody>
      </p:sp>
      <p:sp>
        <p:nvSpPr>
          <p:cNvPr id="9" name="Text 4"/>
          <p:cNvSpPr/>
          <p:nvPr/>
        </p:nvSpPr>
        <p:spPr>
          <a:xfrm>
            <a:off x="731520" y="2286000"/>
            <a:ext cx="4754880" cy="2560320"/>
          </a:xfrm>
          <a:prstGeom prst="rect">
            <a:avLst/>
          </a:prstGeom>
          <a:noFill/>
          <a:ln/>
        </p:spPr>
        <p:txBody>
          <a:bodyPr wrap="square" rtlCol="0" anchor="ctr"/>
          <a:lstStyle/>
          <a:p>
            <a:pPr marL="342900" indent="-342900">
              <a:buSzPct val="100000"/>
              <a:buChar char="•"/>
            </a:pPr>
            <a:r>
              <a:rPr lang="en-US" sz="1200" dirty="0">
                <a:solidFill>
                  <a:srgbClr val="333333"/>
                </a:solidFill>
                <a:latin typeface="Poppins" pitchFamily="34" charset="0"/>
                <a:ea typeface="Poppins" pitchFamily="34" charset="-122"/>
                <a:cs typeface="Poppins" pitchFamily="34" charset="-120"/>
              </a:rPr>
              <a:t>Who are the primary users? Fund managers, senior leadership, operational teams?</a:t>
            </a:r>
          </a:p>
          <a:p>
            <a:pPr marL="342900" indent="-342900">
              <a:buSzPct val="100000"/>
              <a:buChar char="•"/>
            </a:pPr>
            <a:endParaRPr lang="en-US" sz="1200" dirty="0"/>
          </a:p>
          <a:p>
            <a:pPr marL="342900" indent="-342900">
              <a:buSzPct val="100000"/>
              <a:buChar char="•"/>
            </a:pPr>
            <a:r>
              <a:rPr lang="en-US" sz="1200" dirty="0">
                <a:solidFill>
                  <a:srgbClr val="333333"/>
                </a:solidFill>
                <a:latin typeface="Poppins" pitchFamily="34" charset="0"/>
                <a:ea typeface="Poppins" pitchFamily="34" charset="-122"/>
                <a:cs typeface="Poppins" pitchFamily="34" charset="-120"/>
              </a:rPr>
              <a:t>How frequently is the report reviewed? Weekly, monthly, quarterly?</a:t>
            </a:r>
            <a:endParaRPr lang="en-US" sz="1200" dirty="0"/>
          </a:p>
          <a:p>
            <a:pPr marL="342900" indent="-342900">
              <a:buSzPct val="100000"/>
              <a:buChar char="•"/>
            </a:pPr>
            <a:endParaRPr lang="en-US" sz="1200" dirty="0">
              <a:solidFill>
                <a:srgbClr val="333333"/>
              </a:solidFill>
              <a:latin typeface="Poppins" pitchFamily="34" charset="0"/>
              <a:ea typeface="Poppins" pitchFamily="34" charset="-122"/>
              <a:cs typeface="Poppins" pitchFamily="34" charset="-120"/>
            </a:endParaRPr>
          </a:p>
          <a:p>
            <a:pPr marL="342900" indent="-342900">
              <a:buSzPct val="100000"/>
              <a:buChar char="•"/>
            </a:pPr>
            <a:r>
              <a:rPr lang="en-US" sz="1200" dirty="0">
                <a:solidFill>
                  <a:srgbClr val="333333"/>
                </a:solidFill>
                <a:latin typeface="Poppins" pitchFamily="34" charset="0"/>
                <a:ea typeface="Poppins" pitchFamily="34" charset="-122"/>
                <a:cs typeface="Poppins" pitchFamily="34" charset="-120"/>
              </a:rPr>
              <a:t>What specific decisions does it inform? Portfolio allocation, contract renewal, cost reduction?</a:t>
            </a:r>
            <a:endParaRPr lang="en-US" sz="1200" dirty="0"/>
          </a:p>
        </p:txBody>
      </p:sp>
      <p:sp>
        <p:nvSpPr>
          <p:cNvPr id="10" name="Shape 5"/>
          <p:cNvSpPr/>
          <p:nvPr/>
        </p:nvSpPr>
        <p:spPr>
          <a:xfrm>
            <a:off x="6217920" y="1691640"/>
            <a:ext cx="5303520" cy="3657600"/>
          </a:xfrm>
          <a:prstGeom prst="roundRect">
            <a:avLst>
              <a:gd name="adj" fmla="val 2000"/>
            </a:avLst>
          </a:prstGeom>
          <a:solidFill>
            <a:srgbClr val="F7F9FB"/>
          </a:solidFill>
          <a:ln w="12700">
            <a:solidFill>
              <a:srgbClr val="D0D6DC"/>
            </a:solidFill>
            <a:prstDash val="solid"/>
          </a:ln>
        </p:spPr>
        <p:txBody>
          <a:bodyPr/>
          <a:lstStyle/>
          <a:p>
            <a:endParaRPr lang="en-GB"/>
          </a:p>
        </p:txBody>
      </p:sp>
      <p:sp>
        <p:nvSpPr>
          <p:cNvPr id="11" name="Text 6"/>
          <p:cNvSpPr/>
          <p:nvPr/>
        </p:nvSpPr>
        <p:spPr>
          <a:xfrm>
            <a:off x="6156960" y="1825093"/>
            <a:ext cx="5303520" cy="502920"/>
          </a:xfrm>
          <a:prstGeom prst="rect">
            <a:avLst/>
          </a:prstGeom>
          <a:noFill/>
          <a:ln/>
        </p:spPr>
        <p:txBody>
          <a:bodyPr wrap="square" rtlCol="0" anchor="ctr"/>
          <a:lstStyle/>
          <a:p>
            <a:pPr marL="0" indent="0" algn="ctr">
              <a:buNone/>
            </a:pPr>
            <a:r>
              <a:rPr lang="en-US" sz="1500" b="1" dirty="0">
                <a:solidFill>
                  <a:srgbClr val="1B2430"/>
                </a:solidFill>
                <a:latin typeface="Poppins" pitchFamily="34" charset="0"/>
                <a:ea typeface="Poppins" pitchFamily="34" charset="-122"/>
                <a:cs typeface="Poppins" pitchFamily="34" charset="-120"/>
              </a:rPr>
              <a:t>Layout and features</a:t>
            </a:r>
            <a:endParaRPr lang="en-US" sz="1500" dirty="0"/>
          </a:p>
        </p:txBody>
      </p:sp>
      <p:sp>
        <p:nvSpPr>
          <p:cNvPr id="12" name="Text 7"/>
          <p:cNvSpPr/>
          <p:nvPr/>
        </p:nvSpPr>
        <p:spPr>
          <a:xfrm>
            <a:off x="6492240" y="2286000"/>
            <a:ext cx="4754880" cy="2560320"/>
          </a:xfrm>
          <a:prstGeom prst="rect">
            <a:avLst/>
          </a:prstGeom>
          <a:noFill/>
          <a:ln/>
        </p:spPr>
        <p:txBody>
          <a:bodyPr wrap="square" rtlCol="0" anchor="ctr"/>
          <a:lstStyle/>
          <a:p>
            <a:pPr marL="342900" indent="-342900">
              <a:buSzPct val="100000"/>
              <a:buChar char="•"/>
            </a:pPr>
            <a:r>
              <a:rPr lang="en-US" sz="1200" dirty="0">
                <a:solidFill>
                  <a:srgbClr val="333333"/>
                </a:solidFill>
                <a:latin typeface="Poppins" pitchFamily="34" charset="0"/>
                <a:ea typeface="Poppins" pitchFamily="34" charset="-122"/>
                <a:cs typeface="Poppins" pitchFamily="34" charset="-120"/>
              </a:rPr>
              <a:t>Sector-level summary page with drill-through to asset and contract detail?</a:t>
            </a:r>
          </a:p>
          <a:p>
            <a:pPr marL="342900" indent="-342900">
              <a:buSzPct val="100000"/>
              <a:buChar char="•"/>
            </a:pPr>
            <a:endParaRPr lang="en-US" sz="1200" dirty="0"/>
          </a:p>
          <a:p>
            <a:pPr marL="342900" indent="-342900">
              <a:buSzPct val="100000"/>
              <a:buChar char="•"/>
            </a:pPr>
            <a:r>
              <a:rPr lang="en-US" sz="1200" dirty="0">
                <a:solidFill>
                  <a:srgbClr val="333333"/>
                </a:solidFill>
                <a:latin typeface="Poppins" pitchFamily="34" charset="0"/>
                <a:ea typeface="Poppins" pitchFamily="34" charset="-122"/>
                <a:cs typeface="Poppins" pitchFamily="34" charset="-120"/>
              </a:rPr>
              <a:t>Filters: date range, sector, contract status, profitability threshold?</a:t>
            </a:r>
            <a:endParaRPr lang="en-US" sz="1200" dirty="0"/>
          </a:p>
          <a:p>
            <a:pPr marL="342900" indent="-342900">
              <a:buSzPct val="100000"/>
              <a:buChar char="•"/>
            </a:pPr>
            <a:endParaRPr lang="en-US" sz="1200" dirty="0">
              <a:solidFill>
                <a:srgbClr val="333333"/>
              </a:solidFill>
              <a:latin typeface="Poppins" pitchFamily="34" charset="0"/>
              <a:ea typeface="Poppins" pitchFamily="34" charset="-122"/>
              <a:cs typeface="Poppins" pitchFamily="34" charset="-120"/>
            </a:endParaRPr>
          </a:p>
          <a:p>
            <a:pPr marL="342900" indent="-342900">
              <a:buSzPct val="100000"/>
              <a:buChar char="•"/>
            </a:pPr>
            <a:r>
              <a:rPr lang="en-US" sz="1200" dirty="0">
                <a:solidFill>
                  <a:srgbClr val="333333"/>
                </a:solidFill>
                <a:latin typeface="Poppins" pitchFamily="34" charset="0"/>
                <a:ea typeface="Poppins" pitchFamily="34" charset="-122"/>
                <a:cs typeface="Poppins" pitchFamily="34" charset="-120"/>
              </a:rPr>
              <a:t>Export to Excel for ad-hoc analysis? PDF snapshots for board packs?</a:t>
            </a:r>
            <a:endParaRPr lang="en-US" sz="1200" dirty="0"/>
          </a:p>
          <a:p>
            <a:pPr marL="342900" indent="-342900">
              <a:buSzPct val="100000"/>
              <a:buChar char="•"/>
            </a:pPr>
            <a:endParaRPr lang="en-US" sz="1200" dirty="0">
              <a:solidFill>
                <a:srgbClr val="333333"/>
              </a:solidFill>
              <a:latin typeface="Poppins" pitchFamily="34" charset="0"/>
              <a:ea typeface="Poppins" pitchFamily="34" charset="-122"/>
              <a:cs typeface="Poppins" pitchFamily="34" charset="-120"/>
            </a:endParaRPr>
          </a:p>
          <a:p>
            <a:pPr marL="342900" indent="-342900">
              <a:buSzPct val="100000"/>
              <a:buChar char="•"/>
            </a:pPr>
            <a:r>
              <a:rPr lang="en-US" sz="1200" dirty="0">
                <a:solidFill>
                  <a:srgbClr val="333333"/>
                </a:solidFill>
                <a:latin typeface="Poppins" pitchFamily="34" charset="0"/>
                <a:ea typeface="Poppins" pitchFamily="34" charset="-122"/>
                <a:cs typeface="Poppins" pitchFamily="34" charset="-120"/>
              </a:rPr>
              <a:t>Are there existing reports or templates we should reference or replace?</a:t>
            </a:r>
            <a:endParaRPr lang="en-US" sz="1200" dirty="0"/>
          </a:p>
        </p:txBody>
      </p:sp>
      <p:sp>
        <p:nvSpPr>
          <p:cNvPr id="13" name="Shape 8"/>
          <p:cNvSpPr/>
          <p:nvPr/>
        </p:nvSpPr>
        <p:spPr>
          <a:xfrm>
            <a:off x="457200" y="5693005"/>
            <a:ext cx="11064240" cy="548640"/>
          </a:xfrm>
          <a:prstGeom prst="roundRect">
            <a:avLst>
              <a:gd name="adj" fmla="val 8333"/>
            </a:avLst>
          </a:prstGeom>
          <a:solidFill>
            <a:srgbClr val="FF6600"/>
          </a:solidFill>
          <a:ln/>
        </p:spPr>
        <p:txBody>
          <a:bodyPr/>
          <a:lstStyle/>
          <a:p>
            <a:endParaRPr lang="en-GB"/>
          </a:p>
        </p:txBody>
      </p:sp>
      <p:sp>
        <p:nvSpPr>
          <p:cNvPr id="14" name="Text 9"/>
          <p:cNvSpPr/>
          <p:nvPr/>
        </p:nvSpPr>
        <p:spPr>
          <a:xfrm>
            <a:off x="640079" y="5693005"/>
            <a:ext cx="10679397" cy="548640"/>
          </a:xfrm>
          <a:prstGeom prst="rect">
            <a:avLst/>
          </a:prstGeom>
          <a:noFill/>
          <a:ln/>
        </p:spPr>
        <p:txBody>
          <a:bodyPr wrap="square" rtlCol="0" anchor="ctr"/>
          <a:lstStyle/>
          <a:p>
            <a:pPr marL="0" indent="0">
              <a:buNone/>
            </a:pPr>
            <a:r>
              <a:rPr lang="en-US" sz="1300" b="1" dirty="0">
                <a:solidFill>
                  <a:srgbClr val="FFFFFF"/>
                </a:solidFill>
                <a:latin typeface="Poppins" pitchFamily="34" charset="0"/>
                <a:ea typeface="Poppins" pitchFamily="34" charset="-122"/>
                <a:cs typeface="Poppins" pitchFamily="34" charset="-120"/>
              </a:rPr>
              <a:t>A report is only useful if it answers the right questions for the right people.</a:t>
            </a:r>
            <a:endParaRPr lang="en-US" sz="1300" dirty="0"/>
          </a:p>
        </p:txBody>
      </p:sp>
      <p:pic>
        <p:nvPicPr>
          <p:cNvPr id="15" name="Image 2" descr="/sessions/bold-pensive-galileo/workshop-gen/slide-smark.png">
            <a:extLst>
              <a:ext uri="{FF2B5EF4-FFF2-40B4-BE49-F238E27FC236}">
                <a16:creationId xmlns:a16="http://schemas.microsoft.com/office/drawing/2014/main" id="{9DE8EFE6-1EED-B2DF-9B10-906B451D6E82}"/>
              </a:ext>
            </a:extLst>
          </p:cNvPr>
          <p:cNvPicPr>
            <a:picLocks noChangeAspect="1"/>
          </p:cNvPicPr>
          <p:nvPr/>
        </p:nvPicPr>
        <p:blipFill>
          <a:blip r:embed="rId5"/>
          <a:stretch>
            <a:fillRect/>
          </a:stretch>
        </p:blipFill>
        <p:spPr>
          <a:xfrm>
            <a:off x="11622024" y="6291072"/>
            <a:ext cx="566928" cy="56692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1021ECFE-6A9D-F928-E2CB-13830B485DA1}"/>
            </a:ext>
          </a:extLst>
        </p:cNvPr>
        <p:cNvGrpSpPr/>
        <p:nvPr/>
      </p:nvGrpSpPr>
      <p:grpSpPr>
        <a:xfrm>
          <a:off x="0" y="0"/>
          <a:ext cx="0" cy="0"/>
          <a:chOff x="0" y="0"/>
          <a:chExt cx="0" cy="0"/>
        </a:xfrm>
      </p:grpSpPr>
      <p:sp>
        <p:nvSpPr>
          <p:cNvPr id="16" name="Shape 2">
            <a:extLst>
              <a:ext uri="{FF2B5EF4-FFF2-40B4-BE49-F238E27FC236}">
                <a16:creationId xmlns:a16="http://schemas.microsoft.com/office/drawing/2014/main" id="{6E516932-BB40-1AC7-1B4F-DE94380CE467}"/>
              </a:ext>
            </a:extLst>
          </p:cNvPr>
          <p:cNvSpPr/>
          <p:nvPr/>
        </p:nvSpPr>
        <p:spPr>
          <a:xfrm>
            <a:off x="457200" y="1691640"/>
            <a:ext cx="11003280" cy="3657600"/>
          </a:xfrm>
          <a:prstGeom prst="roundRect">
            <a:avLst>
              <a:gd name="adj" fmla="val 2000"/>
            </a:avLst>
          </a:prstGeom>
          <a:solidFill>
            <a:srgbClr val="F7F9FB"/>
          </a:solidFill>
          <a:ln w="12700">
            <a:solidFill>
              <a:srgbClr val="D0D6DC"/>
            </a:solidFill>
            <a:prstDash val="solid"/>
          </a:ln>
        </p:spPr>
        <p:txBody>
          <a:bodyPr/>
          <a:lstStyle/>
          <a:p>
            <a:endParaRPr lang="en-GB"/>
          </a:p>
        </p:txBody>
      </p:sp>
      <p:pic>
        <p:nvPicPr>
          <p:cNvPr id="2" name="Image 0" descr="/sessions/bold-pensive-galileo/workshop-gen/slide-corner-pattern.png">
            <a:extLst>
              <a:ext uri="{FF2B5EF4-FFF2-40B4-BE49-F238E27FC236}">
                <a16:creationId xmlns:a16="http://schemas.microsoft.com/office/drawing/2014/main" id="{35FBA282-DE73-CDED-BCC4-5E10108FC873}"/>
              </a:ext>
            </a:extLst>
          </p:cNvPr>
          <p:cNvPicPr>
            <a:picLocks noChangeAspect="1"/>
          </p:cNvPicPr>
          <p:nvPr/>
        </p:nvPicPr>
        <p:blipFill>
          <a:blip r:embed="rId3"/>
          <a:stretch>
            <a:fillRect/>
          </a:stretch>
        </p:blipFill>
        <p:spPr>
          <a:xfrm>
            <a:off x="9921240" y="-237744"/>
            <a:ext cx="2267712" cy="2002536"/>
          </a:xfrm>
          <a:prstGeom prst="rect">
            <a:avLst/>
          </a:prstGeom>
        </p:spPr>
      </p:pic>
      <p:sp>
        <p:nvSpPr>
          <p:cNvPr id="3" name="Text 0">
            <a:extLst>
              <a:ext uri="{FF2B5EF4-FFF2-40B4-BE49-F238E27FC236}">
                <a16:creationId xmlns:a16="http://schemas.microsoft.com/office/drawing/2014/main" id="{0ED0396C-13CA-B619-49C5-B332FC829380}"/>
              </a:ext>
            </a:extLst>
          </p:cNvPr>
          <p:cNvSpPr/>
          <p:nvPr/>
        </p:nvSpPr>
        <p:spPr>
          <a:xfrm>
            <a:off x="262047" y="292608"/>
            <a:ext cx="11435459" cy="731520"/>
          </a:xfrm>
          <a:prstGeom prst="rect">
            <a:avLst/>
          </a:prstGeom>
          <a:noFill/>
          <a:ln/>
        </p:spPr>
        <p:txBody>
          <a:bodyPr wrap="square" lIns="0" tIns="0" rIns="0" bIns="0" rtlCol="0" anchor="ctr"/>
          <a:lstStyle/>
          <a:p>
            <a:pPr marL="0" indent="0">
              <a:buNone/>
            </a:pPr>
            <a:r>
              <a:rPr lang="en-US" sz="3600" b="1" dirty="0">
                <a:solidFill>
                  <a:srgbClr val="5B6B7A"/>
                </a:solidFill>
                <a:latin typeface="Poppins" pitchFamily="34" charset="0"/>
                <a:ea typeface="Poppins" pitchFamily="34" charset="-122"/>
                <a:cs typeface="Poppins" pitchFamily="34" charset="-120"/>
              </a:rPr>
              <a:t>Delivery rhythm &amp; communications</a:t>
            </a:r>
            <a:r>
              <a:rPr lang="en-US" sz="3600" b="1" dirty="0">
                <a:solidFill>
                  <a:srgbClr val="FF6600"/>
                </a:solidFill>
                <a:latin typeface="Poppins" pitchFamily="34" charset="0"/>
                <a:ea typeface="Poppins" pitchFamily="34" charset="-122"/>
                <a:cs typeface="Poppins" pitchFamily="34" charset="-120"/>
              </a:rPr>
              <a:t>.</a:t>
            </a:r>
            <a:endParaRPr lang="en-US" sz="3600" dirty="0"/>
          </a:p>
        </p:txBody>
      </p:sp>
      <p:pic>
        <p:nvPicPr>
          <p:cNvPr id="4" name="Image 1" descr="/sessions/bold-pensive-galileo/workshop-gen/slide-footer-rule.png">
            <a:extLst>
              <a:ext uri="{FF2B5EF4-FFF2-40B4-BE49-F238E27FC236}">
                <a16:creationId xmlns:a16="http://schemas.microsoft.com/office/drawing/2014/main" id="{07BDE1E9-2628-7921-E0AF-90241508715E}"/>
              </a:ext>
            </a:extLst>
          </p:cNvPr>
          <p:cNvPicPr>
            <a:picLocks noChangeAspect="1"/>
          </p:cNvPicPr>
          <p:nvPr/>
        </p:nvPicPr>
        <p:blipFill>
          <a:blip r:embed="rId4"/>
          <a:stretch>
            <a:fillRect/>
          </a:stretch>
        </p:blipFill>
        <p:spPr>
          <a:xfrm>
            <a:off x="731520" y="6574536"/>
            <a:ext cx="10515600" cy="27432"/>
          </a:xfrm>
          <a:prstGeom prst="rect">
            <a:avLst/>
          </a:prstGeom>
        </p:spPr>
      </p:pic>
      <p:sp>
        <p:nvSpPr>
          <p:cNvPr id="6" name="Text 1">
            <a:extLst>
              <a:ext uri="{FF2B5EF4-FFF2-40B4-BE49-F238E27FC236}">
                <a16:creationId xmlns:a16="http://schemas.microsoft.com/office/drawing/2014/main" id="{179D68C9-CD58-C826-17EC-C09B21E28097}"/>
              </a:ext>
            </a:extLst>
          </p:cNvPr>
          <p:cNvSpPr/>
          <p:nvPr/>
        </p:nvSpPr>
        <p:spPr>
          <a:xfrm>
            <a:off x="457200" y="1118905"/>
            <a:ext cx="9928746" cy="457200"/>
          </a:xfrm>
          <a:prstGeom prst="rect">
            <a:avLst/>
          </a:prstGeom>
          <a:noFill/>
          <a:ln/>
        </p:spPr>
        <p:txBody>
          <a:bodyPr wrap="square" rtlCol="0" anchor="ctr"/>
          <a:lstStyle/>
          <a:p>
            <a:pPr marL="0" indent="0">
              <a:buNone/>
            </a:pPr>
            <a:r>
              <a:rPr lang="en-US" sz="1400" i="1" dirty="0">
                <a:solidFill>
                  <a:srgbClr val="5B6B7A"/>
                </a:solidFill>
                <a:latin typeface="Poppins" pitchFamily="34" charset="0"/>
                <a:ea typeface="Poppins" pitchFamily="34" charset="-122"/>
                <a:cs typeface="Poppins" pitchFamily="34" charset="-120"/>
              </a:rPr>
              <a:t>How we will work together</a:t>
            </a:r>
            <a:endParaRPr lang="en-US" sz="1400" dirty="0"/>
          </a:p>
        </p:txBody>
      </p:sp>
      <p:sp>
        <p:nvSpPr>
          <p:cNvPr id="9" name="Text 4">
            <a:extLst>
              <a:ext uri="{FF2B5EF4-FFF2-40B4-BE49-F238E27FC236}">
                <a16:creationId xmlns:a16="http://schemas.microsoft.com/office/drawing/2014/main" id="{EAE697DF-C7BB-D8D2-FCC8-3151AB203767}"/>
              </a:ext>
            </a:extLst>
          </p:cNvPr>
          <p:cNvSpPr/>
          <p:nvPr/>
        </p:nvSpPr>
        <p:spPr>
          <a:xfrm>
            <a:off x="731520" y="2286000"/>
            <a:ext cx="4754880" cy="2560320"/>
          </a:xfrm>
          <a:prstGeom prst="rect">
            <a:avLst/>
          </a:prstGeom>
          <a:noFill/>
          <a:ln/>
        </p:spPr>
        <p:txBody>
          <a:bodyPr wrap="square" rtlCol="0" anchor="ctr"/>
          <a:lstStyle/>
          <a:p>
            <a:pPr marL="342900" indent="-342900">
              <a:buSzPct val="100000"/>
              <a:buChar char="•"/>
            </a:pPr>
            <a:endParaRPr lang="en-US" sz="1200" dirty="0"/>
          </a:p>
        </p:txBody>
      </p:sp>
      <p:sp>
        <p:nvSpPr>
          <p:cNvPr id="13" name="Shape 8">
            <a:extLst>
              <a:ext uri="{FF2B5EF4-FFF2-40B4-BE49-F238E27FC236}">
                <a16:creationId xmlns:a16="http://schemas.microsoft.com/office/drawing/2014/main" id="{3F74AA14-223B-B39A-F0A6-DEBDFD3377AE}"/>
              </a:ext>
            </a:extLst>
          </p:cNvPr>
          <p:cNvSpPr/>
          <p:nvPr/>
        </p:nvSpPr>
        <p:spPr>
          <a:xfrm>
            <a:off x="457200" y="5693005"/>
            <a:ext cx="11064240" cy="548640"/>
          </a:xfrm>
          <a:prstGeom prst="roundRect">
            <a:avLst>
              <a:gd name="adj" fmla="val 8333"/>
            </a:avLst>
          </a:prstGeom>
          <a:solidFill>
            <a:srgbClr val="FF6600"/>
          </a:solidFill>
          <a:ln/>
        </p:spPr>
        <p:txBody>
          <a:bodyPr/>
          <a:lstStyle/>
          <a:p>
            <a:endParaRPr lang="en-GB"/>
          </a:p>
        </p:txBody>
      </p:sp>
      <p:sp>
        <p:nvSpPr>
          <p:cNvPr id="14" name="Text 9">
            <a:extLst>
              <a:ext uri="{FF2B5EF4-FFF2-40B4-BE49-F238E27FC236}">
                <a16:creationId xmlns:a16="http://schemas.microsoft.com/office/drawing/2014/main" id="{6A861870-F593-2AEE-FBC0-BA358C7B09D8}"/>
              </a:ext>
            </a:extLst>
          </p:cNvPr>
          <p:cNvSpPr/>
          <p:nvPr/>
        </p:nvSpPr>
        <p:spPr>
          <a:xfrm>
            <a:off x="640079" y="5693005"/>
            <a:ext cx="10679397" cy="548640"/>
          </a:xfrm>
          <a:prstGeom prst="rect">
            <a:avLst/>
          </a:prstGeom>
          <a:noFill/>
          <a:ln/>
        </p:spPr>
        <p:txBody>
          <a:bodyPr wrap="square" rtlCol="0" anchor="ctr"/>
          <a:lstStyle/>
          <a:p>
            <a:pPr marL="0" indent="0">
              <a:buNone/>
            </a:pPr>
            <a:r>
              <a:rPr lang="en-GB" sz="1300" b="1" dirty="0">
                <a:solidFill>
                  <a:srgbClr val="FFFFFF"/>
                </a:solidFill>
                <a:latin typeface="Poppins" pitchFamily="34" charset="0"/>
                <a:ea typeface="Poppins" pitchFamily="34" charset="-122"/>
                <a:cs typeface="Poppins" pitchFamily="34" charset="-120"/>
              </a:rPr>
              <a:t>Value versus perfection – function first. Standard Power BI library.</a:t>
            </a:r>
          </a:p>
        </p:txBody>
      </p:sp>
      <p:pic>
        <p:nvPicPr>
          <p:cNvPr id="15" name="Image 2" descr="/sessions/bold-pensive-galileo/workshop-gen/slide-smark.png">
            <a:extLst>
              <a:ext uri="{FF2B5EF4-FFF2-40B4-BE49-F238E27FC236}">
                <a16:creationId xmlns:a16="http://schemas.microsoft.com/office/drawing/2014/main" id="{9A1413EC-551F-9BB8-D37E-F23AB8B5B946}"/>
              </a:ext>
            </a:extLst>
          </p:cNvPr>
          <p:cNvPicPr>
            <a:picLocks noChangeAspect="1"/>
          </p:cNvPicPr>
          <p:nvPr/>
        </p:nvPicPr>
        <p:blipFill>
          <a:blip r:embed="rId5"/>
          <a:stretch>
            <a:fillRect/>
          </a:stretch>
        </p:blipFill>
        <p:spPr>
          <a:xfrm>
            <a:off x="11622024" y="6291072"/>
            <a:ext cx="566928" cy="566928"/>
          </a:xfrm>
          <a:prstGeom prst="rect">
            <a:avLst/>
          </a:prstGeom>
        </p:spPr>
      </p:pic>
      <p:sp>
        <p:nvSpPr>
          <p:cNvPr id="5" name="TextBox 4">
            <a:extLst>
              <a:ext uri="{FF2B5EF4-FFF2-40B4-BE49-F238E27FC236}">
                <a16:creationId xmlns:a16="http://schemas.microsoft.com/office/drawing/2014/main" id="{D54C0501-C1E5-29C1-09F0-51F052DC8A5B}"/>
              </a:ext>
            </a:extLst>
          </p:cNvPr>
          <p:cNvSpPr txBox="1"/>
          <p:nvPr/>
        </p:nvSpPr>
        <p:spPr>
          <a:xfrm>
            <a:off x="1163704" y="2551837"/>
            <a:ext cx="9864592" cy="1754326"/>
          </a:xfrm>
          <a:prstGeom prst="rect">
            <a:avLst/>
          </a:prstGeom>
          <a:noFill/>
        </p:spPr>
        <p:txBody>
          <a:bodyPr wrap="square" lIns="91440" tIns="45720" rIns="91440" bIns="45720" numCol="1" rtlCol="0" anchor="t">
            <a:spAutoFit/>
          </a:bodyPr>
          <a:lstStyle/>
          <a:p>
            <a:pPr marL="342900" lvl="0" indent="-342900">
              <a:buFont typeface="+mj-lt"/>
              <a:buAutoNum type="arabicPeriod"/>
            </a:pPr>
            <a:r>
              <a:rPr lang="en-GB" sz="1800" b="1" dirty="0">
                <a:latin typeface="Poppins" panose="00000500000000000000" pitchFamily="2" charset="0"/>
                <a:cs typeface="Poppins" panose="00000500000000000000" pitchFamily="2" charset="0"/>
              </a:rPr>
              <a:t>Agree delivery rhythm - </a:t>
            </a:r>
            <a:r>
              <a:rPr lang="en-GB" sz="1800" dirty="0">
                <a:latin typeface="Poppins" panose="00000500000000000000" pitchFamily="2" charset="0"/>
                <a:cs typeface="Poppins" panose="00000500000000000000" pitchFamily="2" charset="0"/>
              </a:rPr>
              <a:t>including demos and check-ins</a:t>
            </a:r>
          </a:p>
          <a:p>
            <a:pPr marL="342900" lvl="0" indent="-342900">
              <a:buFont typeface="+mj-lt"/>
              <a:buAutoNum type="arabicPeriod"/>
            </a:pPr>
            <a:endParaRPr lang="en-GB" sz="1800" dirty="0">
              <a:latin typeface="Poppins" panose="00000500000000000000" pitchFamily="2" charset="0"/>
              <a:cs typeface="Poppins" panose="00000500000000000000" pitchFamily="2" charset="0"/>
            </a:endParaRPr>
          </a:p>
          <a:p>
            <a:pPr marL="342900" lvl="0" indent="-342900">
              <a:buFont typeface="+mj-lt"/>
              <a:buAutoNum type="arabicPeriod"/>
            </a:pPr>
            <a:r>
              <a:rPr lang="en-GB" sz="1800" b="1" dirty="0">
                <a:latin typeface="Poppins" panose="00000500000000000000" pitchFamily="2" charset="0"/>
                <a:cs typeface="Poppins" panose="00000500000000000000" pitchFamily="2" charset="0"/>
              </a:rPr>
              <a:t>Budget review and control:</a:t>
            </a:r>
          </a:p>
          <a:p>
            <a:pPr lvl="2"/>
            <a:endParaRPr lang="en-GB" dirty="0">
              <a:latin typeface="Poppins" panose="00000500000000000000" pitchFamily="2" charset="0"/>
              <a:cs typeface="Poppins" panose="00000500000000000000" pitchFamily="2" charset="0"/>
            </a:endParaRPr>
          </a:p>
          <a:p>
            <a:pPr marL="742950" lvl="2" indent="-285750">
              <a:buFont typeface="Arial" panose="020B0604020202020204" pitchFamily="34" charset="0"/>
              <a:buChar char="•"/>
            </a:pPr>
            <a:r>
              <a:rPr lang="en-GB" dirty="0">
                <a:latin typeface="Poppins" panose="00000500000000000000" pitchFamily="2" charset="0"/>
                <a:cs typeface="Poppins" panose="00000500000000000000" pitchFamily="2" charset="0"/>
              </a:rPr>
              <a:t>Bank of 10 days</a:t>
            </a:r>
          </a:p>
          <a:p>
            <a:pPr marL="742950" lvl="2" indent="-285750">
              <a:buFont typeface="Arial" panose="020B0604020202020204" pitchFamily="34" charset="0"/>
              <a:buChar char="•"/>
            </a:pPr>
            <a:r>
              <a:rPr lang="en-GB" dirty="0">
                <a:latin typeface="Poppins" panose="00000500000000000000" pitchFamily="2" charset="0"/>
                <a:cs typeface="Poppins" panose="00000500000000000000" pitchFamily="2" charset="0"/>
              </a:rPr>
              <a:t>Regular strategic budget review</a:t>
            </a:r>
          </a:p>
        </p:txBody>
      </p:sp>
    </p:spTree>
    <p:extLst>
      <p:ext uri="{BB962C8B-B14F-4D97-AF65-F5344CB8AC3E}">
        <p14:creationId xmlns:p14="http://schemas.microsoft.com/office/powerpoint/2010/main" val="36981990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sessions/bold-pensive-galileo/workshop-gen/slide-hero-bg.gif"/>
          <p:cNvPicPr>
            <a:picLocks noChangeAspect="1"/>
          </p:cNvPicPr>
          <p:nvPr/>
        </p:nvPicPr>
        <p:blipFill>
          <a:blip r:embed="rId3"/>
          <a:stretch>
            <a:fillRect/>
          </a:stretch>
        </p:blipFill>
        <p:spPr>
          <a:xfrm>
            <a:off x="0" y="0"/>
            <a:ext cx="12188952" cy="6858000"/>
          </a:xfrm>
          <a:prstGeom prst="rect">
            <a:avLst/>
          </a:prstGeom>
        </p:spPr>
      </p:pic>
      <p:pic>
        <p:nvPicPr>
          <p:cNvPr id="3" name="Image 1" descr="/sessions/bold-pensive-galileo/workshop-gen/slide-footer-rule.png"/>
          <p:cNvPicPr>
            <a:picLocks noChangeAspect="1"/>
          </p:cNvPicPr>
          <p:nvPr/>
        </p:nvPicPr>
        <p:blipFill>
          <a:blip r:embed="rId4"/>
          <a:stretch>
            <a:fillRect/>
          </a:stretch>
        </p:blipFill>
        <p:spPr>
          <a:xfrm>
            <a:off x="731520" y="6574536"/>
            <a:ext cx="10515600" cy="27432"/>
          </a:xfrm>
          <a:prstGeom prst="rect">
            <a:avLst/>
          </a:prstGeom>
        </p:spPr>
      </p:pic>
      <p:sp>
        <p:nvSpPr>
          <p:cNvPr id="5" name="Text 0"/>
          <p:cNvSpPr/>
          <p:nvPr/>
        </p:nvSpPr>
        <p:spPr>
          <a:xfrm>
            <a:off x="457200" y="731520"/>
            <a:ext cx="9144000" cy="914400"/>
          </a:xfrm>
          <a:prstGeom prst="rect">
            <a:avLst/>
          </a:prstGeom>
          <a:noFill/>
          <a:ln/>
        </p:spPr>
        <p:txBody>
          <a:bodyPr wrap="square" lIns="0" tIns="0" rIns="0" bIns="0" rtlCol="0" anchor="ctr"/>
          <a:lstStyle/>
          <a:p>
            <a:pPr marL="0" indent="0">
              <a:buNone/>
            </a:pPr>
            <a:r>
              <a:rPr lang="en-US" sz="4400" b="1" dirty="0">
                <a:solidFill>
                  <a:srgbClr val="FFFFFF"/>
                </a:solidFill>
                <a:latin typeface="Poppins" pitchFamily="34" charset="0"/>
                <a:ea typeface="Poppins" pitchFamily="34" charset="-122"/>
                <a:cs typeface="Poppins" pitchFamily="34" charset="-120"/>
              </a:rPr>
              <a:t>Next </a:t>
            </a:r>
            <a:r>
              <a:rPr lang="en-US" sz="4400" b="1" i="1" dirty="0">
                <a:solidFill>
                  <a:srgbClr val="FF6600"/>
                </a:solidFill>
                <a:latin typeface="Poppins" pitchFamily="34" charset="0"/>
                <a:ea typeface="Poppins" pitchFamily="34" charset="-122"/>
                <a:cs typeface="Poppins" pitchFamily="34" charset="-120"/>
              </a:rPr>
              <a:t>steps</a:t>
            </a:r>
            <a:endParaRPr lang="en-US" sz="4400" dirty="0"/>
          </a:p>
        </p:txBody>
      </p:sp>
      <p:sp>
        <p:nvSpPr>
          <p:cNvPr id="6" name="Text 1"/>
          <p:cNvSpPr/>
          <p:nvPr/>
        </p:nvSpPr>
        <p:spPr>
          <a:xfrm>
            <a:off x="457200" y="2011680"/>
            <a:ext cx="10058400" cy="3200400"/>
          </a:xfrm>
          <a:prstGeom prst="rect">
            <a:avLst/>
          </a:prstGeom>
          <a:noFill/>
          <a:ln/>
        </p:spPr>
        <p:txBody>
          <a:bodyPr wrap="square" rtlCol="0" anchor="ctr"/>
          <a:lstStyle/>
          <a:p>
            <a:pPr marL="342900" indent="-342900">
              <a:buSzPct val="100000"/>
              <a:buChar char="•"/>
            </a:pPr>
            <a:r>
              <a:rPr lang="en-US" sz="1400" dirty="0">
                <a:solidFill>
                  <a:srgbClr val="FFFFFF"/>
                </a:solidFill>
                <a:latin typeface="Poppins" pitchFamily="34" charset="0"/>
                <a:ea typeface="Poppins" pitchFamily="34" charset="-122"/>
                <a:cs typeface="Poppins" pitchFamily="34" charset="-120"/>
              </a:rPr>
              <a:t>Equitix to provision Microsoft Fabric and Power BI access for Synetec</a:t>
            </a:r>
            <a:endParaRPr lang="en-US" sz="1400" dirty="0"/>
          </a:p>
          <a:p>
            <a:pPr marL="342900" indent="-342900">
              <a:buSzPct val="100000"/>
              <a:buChar char="•"/>
            </a:pPr>
            <a:r>
              <a:rPr lang="en-US" sz="1400" dirty="0">
                <a:solidFill>
                  <a:srgbClr val="FFFFFF"/>
                </a:solidFill>
                <a:latin typeface="Poppins" pitchFamily="34" charset="0"/>
                <a:ea typeface="Poppins" pitchFamily="34" charset="-122"/>
                <a:cs typeface="Poppins" pitchFamily="34" charset="-120"/>
              </a:rPr>
              <a:t>Equitix to share sample data extracts from Dataverse, NetSuite, and any relevant spreadsheets</a:t>
            </a:r>
            <a:endParaRPr lang="en-US" sz="1400" dirty="0"/>
          </a:p>
          <a:p>
            <a:pPr marL="342900" indent="-342900">
              <a:buSzPct val="100000"/>
              <a:buChar char="•"/>
            </a:pPr>
            <a:r>
              <a:rPr lang="en-US" sz="1400" dirty="0">
                <a:solidFill>
                  <a:srgbClr val="FFFFFF"/>
                </a:solidFill>
                <a:latin typeface="Poppins" pitchFamily="34" charset="0"/>
                <a:ea typeface="Poppins" pitchFamily="34" charset="-122"/>
                <a:cs typeface="Poppins" pitchFamily="34" charset="-120"/>
              </a:rPr>
              <a:t>Synetec to document the agreed profitability model and data mapping from today's session</a:t>
            </a:r>
            <a:endParaRPr lang="en-US" sz="1400" dirty="0"/>
          </a:p>
          <a:p>
            <a:pPr>
              <a:buSzPct val="100000"/>
            </a:pPr>
            <a:endParaRPr lang="en-US" sz="1400" dirty="0">
              <a:solidFill>
                <a:srgbClr val="FF0000"/>
              </a:solidFill>
            </a:endParaRPr>
          </a:p>
        </p:txBody>
      </p:sp>
      <p:pic>
        <p:nvPicPr>
          <p:cNvPr id="7" name="Image 2" descr="/sessions/bold-pensive-galileo/workshop-gen/slide-hero-smark.png">
            <a:extLst>
              <a:ext uri="{FF2B5EF4-FFF2-40B4-BE49-F238E27FC236}">
                <a16:creationId xmlns:a16="http://schemas.microsoft.com/office/drawing/2014/main" id="{9A174184-20DC-37D2-85CD-FDDCAAAB390B}"/>
              </a:ext>
            </a:extLst>
          </p:cNvPr>
          <p:cNvPicPr>
            <a:picLocks noChangeAspect="1"/>
          </p:cNvPicPr>
          <p:nvPr/>
        </p:nvPicPr>
        <p:blipFill>
          <a:blip r:embed="rId5"/>
          <a:stretch>
            <a:fillRect/>
          </a:stretch>
        </p:blipFill>
        <p:spPr>
          <a:xfrm>
            <a:off x="11521440" y="6245352"/>
            <a:ext cx="667512" cy="61264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316d6c22-1bc4-4f98-bbab-64efe63a9601" xsi:nil="true"/>
    <lcf76f155ced4ddcb4097134ff3c332f xmlns="9088a354-9a92-4fa1-ac30-c190d3a1ab70">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0DA456117DD1EC48AD56E364C53E3A55" ma:contentTypeVersion="15" ma:contentTypeDescription="Create a new document." ma:contentTypeScope="" ma:versionID="2eec2faae635ceda46d7f95a2fe57230">
  <xsd:schema xmlns:xsd="http://www.w3.org/2001/XMLSchema" xmlns:xs="http://www.w3.org/2001/XMLSchema" xmlns:p="http://schemas.microsoft.com/office/2006/metadata/properties" xmlns:ns2="9088a354-9a92-4fa1-ac30-c190d3a1ab70" xmlns:ns3="316d6c22-1bc4-4f98-bbab-64efe63a9601" targetNamespace="http://schemas.microsoft.com/office/2006/metadata/properties" ma:root="true" ma:fieldsID="adfed22bd3dba0d5f48599060ff13a9a" ns2:_="" ns3:_="">
    <xsd:import namespace="9088a354-9a92-4fa1-ac30-c190d3a1ab70"/>
    <xsd:import namespace="316d6c22-1bc4-4f98-bbab-64efe63a9601"/>
    <xsd:element name="properties">
      <xsd:complexType>
        <xsd:sequence>
          <xsd:element name="documentManagement">
            <xsd:complexType>
              <xsd:all>
                <xsd:element ref="ns2:MediaServiceMetadata" minOccurs="0"/>
                <xsd:element ref="ns2:MediaServiceFastMetadata"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3:SharedWithUsers" minOccurs="0"/>
                <xsd:element ref="ns3:SharedWithDetails" minOccurs="0"/>
                <xsd:element ref="ns2:MediaLengthInSeconds" minOccurs="0"/>
                <xsd:element ref="ns2:MediaServiceLocation"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088a354-9a92-4fa1-ac30-c190d3a1ab7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1" nillable="true" ma:taxonomy="true" ma:internalName="lcf76f155ced4ddcb4097134ff3c332f" ma:taxonomyFieldName="MediaServiceImageTags" ma:displayName="Image Tags" ma:readOnly="false" ma:fieldId="{5cf76f15-5ced-4ddc-b409-7134ff3c332f}" ma:taxonomyMulti="true" ma:sspId="ab51fafc-4cce-41a0-8cac-85c073512175" ma:termSetId="09814cd3-568e-fe90-9814-8d621ff8fb84" ma:anchorId="fba54fb3-c3e1-fe81-a776-ca4b69148c4d" ma:open="true" ma:isKeyword="false">
      <xsd:complexType>
        <xsd:sequence>
          <xsd:element ref="pc:Terms" minOccurs="0" maxOccurs="1"/>
        </xsd:sequence>
      </xsd:complexType>
    </xsd:element>
    <xsd:element name="MediaServiceDateTaken" ma:index="13" nillable="true" ma:displayName="MediaServiceDateTaken" ma:hidden="true" ma:internalName="MediaServiceDateTaken"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Location" ma:index="20" nillable="true" ma:displayName="Location" ma:indexed="true" ma:internalName="MediaServiceLocation"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MediaServiceObjectDetectorVersions" ma:index="22"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16d6c22-1bc4-4f98-bbab-64efe63a9601" elementFormDefault="qualified">
    <xsd:import namespace="http://schemas.microsoft.com/office/2006/documentManagement/types"/>
    <xsd:import namespace="http://schemas.microsoft.com/office/infopath/2007/PartnerControls"/>
    <xsd:element name="TaxCatchAll" ma:index="12" nillable="true" ma:displayName="Taxonomy Catch All Column" ma:hidden="true" ma:list="{1fe141c6-3493-4ccd-a145-5916989a5823}" ma:internalName="TaxCatchAll" ma:showField="CatchAllData" ma:web="316d6c22-1bc4-4f98-bbab-64efe63a9601">
      <xsd:complexType>
        <xsd:complexContent>
          <xsd:extension base="dms:MultiChoiceLookup">
            <xsd:sequence>
              <xsd:element name="Value" type="dms:Lookup" maxOccurs="unbounded" minOccurs="0" nillable="true"/>
            </xsd:sequence>
          </xsd:extension>
        </xsd:complexContent>
      </xsd:complexType>
    </xsd:element>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D532571-5A3D-497A-A569-6F56B9E4955D}">
  <ds:schemaRefs>
    <ds:schemaRef ds:uri="http://schemas.microsoft.com/office/2006/metadata/properties"/>
    <ds:schemaRef ds:uri="http://schemas.microsoft.com/office/infopath/2007/PartnerControls"/>
    <ds:schemaRef ds:uri="64ddfc6a-bf76-40bc-8868-4239b75611e6"/>
    <ds:schemaRef ds:uri="b78e1fea-ac40-4c78-adb4-cb37f414c56a"/>
  </ds:schemaRefs>
</ds:datastoreItem>
</file>

<file path=customXml/itemProps2.xml><?xml version="1.0" encoding="utf-8"?>
<ds:datastoreItem xmlns:ds="http://schemas.openxmlformats.org/officeDocument/2006/customXml" ds:itemID="{4F40A9DA-41F4-448F-BE5A-AE04C1DF7974}">
  <ds:schemaRefs>
    <ds:schemaRef ds:uri="http://schemas.microsoft.com/sharepoint/v3/contenttype/forms"/>
  </ds:schemaRefs>
</ds:datastoreItem>
</file>

<file path=customXml/itemProps3.xml><?xml version="1.0" encoding="utf-8"?>
<ds:datastoreItem xmlns:ds="http://schemas.openxmlformats.org/officeDocument/2006/customXml" ds:itemID="{463EB471-B163-4AD0-94F4-5E1F81034B3B}"/>
</file>

<file path=docProps/app.xml><?xml version="1.0" encoding="utf-8"?>
<Properties xmlns="http://schemas.openxmlformats.org/officeDocument/2006/extended-properties" xmlns:vt="http://schemas.openxmlformats.org/officeDocument/2006/docPropsVTypes">
  <TotalTime>70</TotalTime>
  <Words>1772</Words>
  <Application>Microsoft Office PowerPoint</Application>
  <PresentationFormat>Widescreen</PresentationFormat>
  <Paragraphs>127</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Poppins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Equitix Power BI Contract Profitability Reporting - Kick-off</dc:title>
  <dc:subject>PptxGenJS Presentation</dc:subject>
  <dc:creator>Synetec</dc:creator>
  <cp:lastModifiedBy>Stavros Tsagkarakis</cp:lastModifiedBy>
  <cp:revision>2</cp:revision>
  <dcterms:created xsi:type="dcterms:W3CDTF">2026-03-27T15:14:47Z</dcterms:created>
  <dcterms:modified xsi:type="dcterms:W3CDTF">2026-03-27T16:48:33Z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0x0101000DA456117DD1EC48AD56E364C53E3A55</vt:lpwstr>
  </property>
  <property fmtid="{D5CDD505-2E9C-101B-9397-08002B2CF9AE}" pid="3" name="MediaServiceImageTags">
    <vt:lpwstr/>
  </property>
</Properties>
</file>